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26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95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5" y="24047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21603" y="11875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Generating Computational Cognitive Models</a:t>
            </a:r>
          </a:p>
          <a:p>
            <a:r>
              <a:rPr>
                <a:latin typeface="Aptos"/>
              </a:rPr>
              <a:t>using Large Language Models</a:t>
            </a:r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Presentation </a:t>
            </a:r>
            <a:r>
              <a:rPr lang="en-US" b="1" dirty="0">
                <a:latin typeface="Aptos"/>
              </a:rPr>
              <a:t> 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ptos"/>
              </a:rPr>
              <a:t>Yingzhu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/>
              </a:rPr>
              <a:t> Chen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/>
              </a:rPr>
              <a:t>&amp; </a:t>
            </a:r>
            <a:r>
              <a:rPr lang="de-DE" altLang="zh-C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Christian Block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endParaRPr b="1" dirty="0">
              <a:solidFill>
                <a:schemeClr val="accent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 flipV="1">
            <a:off x="621792" y="2862072"/>
            <a:ext cx="6230270" cy="18288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1792" y="3154680"/>
            <a:ext cx="64008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dirty="0">
                <a:latin typeface="Aptos"/>
              </a:rPr>
              <a:t>The core idea: LLMs do not just chat. They can propose executable cognitive model code, and the models can be tested against human behavioral data.</a:t>
            </a:r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NeurIPS 2025 · Rmus et al.</a:t>
            </a:r>
          </a:p>
        </p:txBody>
      </p:sp>
      <p:sp>
        <p:nvSpPr>
          <p:cNvPr id="10" name="Shape 8"/>
          <p:cNvSpPr/>
          <p:nvPr/>
        </p:nvSpPr>
        <p:spPr>
          <a:xfrm>
            <a:off x="7635240" y="960120"/>
            <a:ext cx="40690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/mnt/data/gecco_assets/fig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1569810"/>
            <a:ext cx="3922776" cy="16152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 err="1">
                <a:latin typeface="Aptos"/>
              </a:rPr>
              <a:t>Rmus</a:t>
            </a:r>
            <a:r>
              <a:rPr dirty="0">
                <a:latin typeface="Aptos"/>
              </a:rPr>
              <a:t> et al. 2025</a:t>
            </a:r>
          </a:p>
        </p:txBody>
      </p:sp>
      <p:sp>
        <p:nvSpPr>
          <p:cNvPr id="13" name="Text 10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BIG PICTURE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The paper in one sentence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LLMs generate cognitive models and improve them through data-driven feedback.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669280" cy="3520440"/>
          </a:xfrm>
          <a:prstGeom prst="roundRect">
            <a:avLst>
              <a:gd name="adj" fmla="val 1558"/>
            </a:avLst>
          </a:prstGeom>
          <a:solidFill>
            <a:srgbClr val="F4F9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5394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dirty="0">
                <a:latin typeface="Aptos"/>
              </a:rPr>
              <a:t>Traditional cognitive science: humans propose a theory → humans write a model → fit it to human behavior → compare models.</a:t>
            </a:r>
          </a:p>
          <a:p>
            <a:endParaRPr dirty="0">
              <a:latin typeface="Aptos"/>
            </a:endParaRPr>
          </a:p>
          <a:p>
            <a:r>
              <a:rPr dirty="0">
                <a:latin typeface="Aptos"/>
              </a:rPr>
              <a:t>This paper: the LLM reads the task and data → writes candidate model code → tests it on held-out data → receives feedback about the best model → keeps improving.</a:t>
            </a:r>
          </a:p>
        </p:txBody>
      </p:sp>
      <p:sp>
        <p:nvSpPr>
          <p:cNvPr id="10" name="Shape 8"/>
          <p:cNvSpPr/>
          <p:nvPr/>
        </p:nvSpPr>
        <p:spPr>
          <a:xfrm>
            <a:off x="6720840" y="1325880"/>
            <a:ext cx="48920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9516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Key terms</a:t>
            </a:r>
          </a:p>
        </p:txBody>
      </p:sp>
      <p:sp>
        <p:nvSpPr>
          <p:cNvPr id="12" name="Text 10"/>
          <p:cNvSpPr/>
          <p:nvPr/>
        </p:nvSpPr>
        <p:spPr>
          <a:xfrm>
            <a:off x="6995160" y="2011680"/>
            <a:ext cx="41605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r>
              <a:rPr>
                <a:latin typeface="Aptos"/>
              </a:rPr>
              <a:t>• Computational cognitive model: a psychological theory written as equations or code</a:t>
            </a:r>
          </a:p>
          <a:p>
            <a:r>
              <a:rPr>
                <a:latin typeface="Aptos"/>
              </a:rPr>
              <a:t>• LLM-generated model: a model proposed by a large language model</a:t>
            </a:r>
          </a:p>
          <a:p>
            <a:r>
              <a:rPr>
                <a:latin typeface="Aptos"/>
              </a:rPr>
              <a:t>• BIC: a model comparison score; lower is better</a:t>
            </a:r>
          </a:p>
          <a:p>
            <a:r>
              <a:rPr>
                <a:latin typeface="Aptos"/>
              </a:rPr>
              <a:t>• Posterior predictive check: test whether a model can simulate human-like behavior</a:t>
            </a:r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Think of GeCCo as a cognitive-model generator plus an automatic evaluation loop.</a:t>
            </a:r>
          </a:p>
        </p:txBody>
      </p:sp>
      <p:sp>
        <p:nvSpPr>
          <p:cNvPr id="14" name="Text 12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latin typeface="Aptos"/>
              </a:rPr>
              <a:t>MO</a:t>
            </a:r>
            <a:r>
              <a:rPr lang="de-DE" dirty="0">
                <a:latin typeface="Aptos"/>
              </a:rPr>
              <a:t>T</a:t>
            </a:r>
            <a:r>
              <a:rPr dirty="0">
                <a:latin typeface="Aptos"/>
              </a:rPr>
              <a:t>IVATION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Why does this paper matter?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It tackles the problem that hand-built modeling is slow, narrow, and heavily dependent on experts.</a:t>
            </a:r>
          </a:p>
        </p:txBody>
      </p:sp>
      <p:sp>
        <p:nvSpPr>
          <p:cNvPr id="8" name="Shape 6"/>
          <p:cNvSpPr/>
          <p:nvPr/>
        </p:nvSpPr>
        <p:spPr>
          <a:xfrm>
            <a:off x="571500" y="1486870"/>
            <a:ext cx="2971800" cy="306324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15143" y="1691640"/>
            <a:ext cx="5192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D98E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altLang="zh-CN" dirty="0"/>
          </a:p>
          <a:p>
            <a:endParaRPr dirty="0"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1546306"/>
            <a:ext cx="2302378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Traditional modeling is slow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dirty="0">
                <a:latin typeface="Aptos"/>
              </a:rPr>
              <a:t>Researchers need to review literature, form theories, write code, fit data, and repeat the process.</a:t>
            </a:r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2971800" cy="306324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805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C44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altLang="zh-CN" dirty="0"/>
          </a:p>
          <a:p>
            <a:endParaRPr dirty="0"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01768" y="18973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Expert bias can narrow the search space</a:t>
            </a:r>
          </a:p>
        </p:txBody>
      </p:sp>
      <p:sp>
        <p:nvSpPr>
          <p:cNvPr id="15" name="Text 13"/>
          <p:cNvSpPr/>
          <p:nvPr/>
        </p:nvSpPr>
        <p:spPr>
          <a:xfrm>
            <a:off x="4681728" y="27660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dirty="0">
                <a:latin typeface="Aptos"/>
              </a:rPr>
              <a:t>Researchers may only test models they already know or believe in.</a:t>
            </a:r>
          </a:p>
        </p:txBody>
      </p:sp>
      <p:sp>
        <p:nvSpPr>
          <p:cNvPr id="16" name="Shape 14"/>
          <p:cNvSpPr/>
          <p:nvPr/>
        </p:nvSpPr>
        <p:spPr>
          <a:xfrm>
            <a:off x="8001000" y="1508760"/>
            <a:ext cx="2971800" cy="306324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381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altLang="zh-CN" dirty="0"/>
          </a:p>
          <a:p>
            <a:endParaRPr dirty="0"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41080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LLMs can expand the model space</a:t>
            </a:r>
          </a:p>
        </p:txBody>
      </p:sp>
      <p:sp>
        <p:nvSpPr>
          <p:cNvPr id="19" name="Text 17"/>
          <p:cNvSpPr/>
          <p:nvPr/>
        </p:nvSpPr>
        <p:spPr>
          <a:xfrm>
            <a:off x="838962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dirty="0">
                <a:latin typeface="Aptos"/>
              </a:rPr>
              <a:t>LLMs can read task descriptions and data, propose multiple executable models, and let data decide which ones work best.</a:t>
            </a:r>
          </a:p>
        </p:txBody>
      </p:sp>
      <p:sp>
        <p:nvSpPr>
          <p:cNvPr id="20" name="Shape 18"/>
          <p:cNvSpPr/>
          <p:nvPr/>
        </p:nvSpPr>
        <p:spPr>
          <a:xfrm>
            <a:off x="1005840" y="507492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143000" y="52120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dirty="0">
                <a:latin typeface="Aptos"/>
              </a:rPr>
              <a:t>The point is not “LLMs replace scientists.” The point is that LLMs can help scientists explore more cognitive models faster.</a:t>
            </a:r>
          </a:p>
        </p:txBody>
      </p:sp>
      <p:sp>
        <p:nvSpPr>
          <p:cNvPr id="22" name="Text 20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57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CONCEPT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What is a computational cognitive model?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It turns an idea about “how people think” into a runnable and comparable model.</a:t>
            </a:r>
          </a:p>
        </p:txBody>
      </p:sp>
      <p:sp>
        <p:nvSpPr>
          <p:cNvPr id="8" name="Shape 6"/>
          <p:cNvSpPr/>
          <p:nvPr/>
        </p:nvSpPr>
        <p:spPr>
          <a:xfrm>
            <a:off x="609905" y="1247869"/>
            <a:ext cx="3200400" cy="3931920"/>
          </a:xfrm>
          <a:prstGeom prst="roundRect">
            <a:avLst>
              <a:gd name="adj" fmla="val 1818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399" y="1600200"/>
            <a:ext cx="25301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Psychological theory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2300002"/>
            <a:ext cx="2788920" cy="13996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r>
              <a:rPr dirty="0">
                <a:latin typeface="Aptos"/>
              </a:rPr>
              <a:t>For example: </a:t>
            </a:r>
            <a:r>
              <a:rPr lang="en-US" dirty="0">
                <a:latin typeface="Aptos"/>
              </a:rPr>
              <a:t> </a:t>
            </a:r>
            <a:r>
              <a:rPr dirty="0">
                <a:latin typeface="Aptos"/>
              </a:rPr>
              <a:t>people update choices from rewards; people repeat a previous successful action; working-memory load affects learning.</a:t>
            </a:r>
            <a:endParaRPr lang="en-US" dirty="0">
              <a:latin typeface="Aptos"/>
            </a:endParaRPr>
          </a:p>
          <a:p>
            <a:endParaRPr dirty="0"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20240" y="3396996"/>
            <a:ext cx="4572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>
                <a:latin typeface="Aptos"/>
              </a:rPr>
              <a:t>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914399" y="4219955"/>
                <a:ext cx="3017519" cy="6264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b="1" dirty="0">
                    <a:solidFill>
                      <a:schemeClr val="accent1"/>
                    </a:solidFill>
                    <a:latin typeface="Aptos"/>
                  </a:rPr>
                  <a:t>Equations / code</a:t>
                </a:r>
                <a:r>
                  <a:rPr lang="en-US" b="1" dirty="0">
                    <a:solidFill>
                      <a:schemeClr val="accent1"/>
                    </a:solidFill>
                    <a:latin typeface="Aptos"/>
                  </a:rPr>
                  <a:t>:</a:t>
                </a:r>
              </a:p>
              <a:p>
                <a:endParaRPr lang="en-US" sz="1100" b="1" dirty="0">
                  <a:solidFill>
                    <a:schemeClr val="accent1"/>
                  </a:solidFill>
                  <a:latin typeface="Aptos"/>
                </a:endParaRPr>
              </a:p>
              <a:p>
                <a:r>
                  <a:rPr lang="de-DE" altLang="zh-CN" sz="1400" dirty="0"/>
                  <a:t>P(A)↑ ,   </a:t>
                </a:r>
                <a:r>
                  <a:rPr lang="de-DE" altLang="zh-CN" sz="1400" dirty="0" err="1"/>
                  <a:t>if</a:t>
                </a:r>
                <a:r>
                  <a:rPr lang="de-DE" altLang="zh-CN" sz="1400" dirty="0"/>
                  <a:t> A was </a:t>
                </a:r>
                <a:r>
                  <a:rPr lang="de-DE" altLang="zh-CN" sz="1400" dirty="0" err="1"/>
                  <a:t>rewarded</a:t>
                </a:r>
                <a:r>
                  <a:rPr lang="de-DE" altLang="zh-CN" sz="1400" dirty="0"/>
                  <a:t> </a:t>
                </a:r>
                <a:r>
                  <a:rPr lang="de-DE" altLang="zh-CN" sz="1400" dirty="0" err="1"/>
                  <a:t>before</a:t>
                </a:r>
                <a:endParaRPr lang="de-DE" altLang="zh-CN" sz="1400" dirty="0"/>
              </a:p>
              <a:p>
                <a:r>
                  <a:rPr lang="de-DE" altLang="zh-CN" sz="1400" dirty="0"/>
                  <a:t> </a:t>
                </a:r>
                <a:endParaRPr lang="zh-CN" alt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400" smtClean="0"/>
                          </m:ctrlPr>
                        </m:sSubPr>
                        <m:e>
                          <m:r>
                            <a:rPr lang="ar-AE" altLang="zh-CN" sz="1400" i="1"/>
                            <m:t>𝑉</m:t>
                          </m:r>
                        </m:e>
                        <m:sub>
                          <m:r>
                            <a:rPr lang="ar-AE" altLang="zh-CN" sz="1400" i="1"/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altLang="zh-CN" sz="1400" i="1"/>
                          </m:ctrlPr>
                        </m:dPr>
                        <m:e>
                          <m:r>
                            <a:rPr lang="ar-AE" altLang="zh-CN" sz="1400" i="1"/>
                            <m:t>𝑡</m:t>
                          </m:r>
                          <m:r>
                            <a:rPr lang="ar-AE" altLang="zh-CN" sz="1400"/>
                            <m:t>+1</m:t>
                          </m:r>
                        </m:e>
                      </m:d>
                      <m:r>
                        <a:rPr lang="ar-AE" altLang="zh-CN" sz="1400"/>
                        <m:t>=</m:t>
                      </m:r>
                      <m:sSub>
                        <m:sSubPr>
                          <m:ctrlPr>
                            <a:rPr lang="ar-AE" altLang="zh-CN" sz="1400" i="1"/>
                          </m:ctrlPr>
                        </m:sSubPr>
                        <m:e>
                          <m:r>
                            <a:rPr lang="ar-AE" altLang="zh-CN" sz="1400" i="1"/>
                            <m:t>𝑉</m:t>
                          </m:r>
                        </m:e>
                        <m:sub>
                          <m:r>
                            <a:rPr lang="ar-AE" altLang="zh-CN" sz="1400" i="1"/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altLang="zh-CN" sz="1400" i="1"/>
                          </m:ctrlPr>
                        </m:dPr>
                        <m:e>
                          <m:r>
                            <a:rPr lang="ar-AE" altLang="zh-CN" sz="1400" i="1"/>
                            <m:t>𝑡</m:t>
                          </m:r>
                        </m:e>
                      </m:d>
                      <m:r>
                        <a:rPr lang="ar-AE" altLang="zh-CN" sz="1400"/>
                        <m:t>+</m:t>
                      </m:r>
                      <m:r>
                        <a:rPr lang="ar-AE" altLang="zh-CN" sz="1400" i="1"/>
                        <m:t>𝛼</m:t>
                      </m:r>
                      <m:r>
                        <a:rPr lang="ar-AE" altLang="zh-CN" sz="1400"/>
                        <m:t>⋅</m:t>
                      </m:r>
                      <m:d>
                        <m:dPr>
                          <m:ctrlPr>
                            <a:rPr lang="ar-AE" altLang="zh-CN" sz="1400" i="1"/>
                          </m:ctrlPr>
                        </m:dPr>
                        <m:e>
                          <m:r>
                            <a:rPr lang="ar-AE" altLang="zh-CN" sz="1400" i="1"/>
                            <m:t>𝑅</m:t>
                          </m:r>
                          <m:r>
                            <a:rPr lang="ar-AE" altLang="zh-CN" sz="1400"/>
                            <m:t>−</m:t>
                          </m:r>
                          <m:sSub>
                            <m:sSubPr>
                              <m:ctrlPr>
                                <a:rPr lang="ar-AE" altLang="zh-CN" sz="1400" i="1"/>
                              </m:ctrlPr>
                            </m:sSubPr>
                            <m:e>
                              <m:r>
                                <a:rPr lang="ar-AE" altLang="zh-CN" sz="1400" i="1"/>
                                <m:t>𝑉</m:t>
                              </m:r>
                            </m:e>
                            <m:sub>
                              <m:r>
                                <a:rPr lang="ar-AE" altLang="zh-CN" sz="1400" i="1"/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CN" sz="1400" i="1"/>
                              </m:ctrlPr>
                            </m:dPr>
                            <m:e>
                              <m:r>
                                <a:rPr lang="ar-AE" altLang="zh-CN" sz="1400" i="1"/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altLang="zh-CN" sz="1400" dirty="0"/>
              </a:p>
              <a:p>
                <a:endParaRPr sz="1100" dirty="0">
                  <a:latin typeface="Aptos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4219955"/>
                <a:ext cx="3017519" cy="626425"/>
              </a:xfrm>
              <a:prstGeom prst="rect">
                <a:avLst/>
              </a:prstGeom>
              <a:blipFill>
                <a:blip r:embed="rId3"/>
                <a:stretch>
                  <a:fillRect l="-5042" t="-64000" b="-4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4160520" y="1234440"/>
            <a:ext cx="3566160" cy="39319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34840" y="1600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2"/>
                </a:solidFill>
                <a:latin typeface="Aptos"/>
              </a:rPr>
              <a:t>What does the model output?</a:t>
            </a:r>
          </a:p>
        </p:txBody>
      </p:sp>
      <p:sp>
        <p:nvSpPr>
          <p:cNvPr id="15" name="Text 13"/>
          <p:cNvSpPr/>
          <p:nvPr/>
        </p:nvSpPr>
        <p:spPr>
          <a:xfrm>
            <a:off x="4526280" y="2148840"/>
            <a:ext cx="283464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/>
          </a:bodyPr>
          <a:lstStyle/>
          <a:p>
            <a:r>
              <a:rPr>
                <a:latin typeface="Aptos"/>
              </a:rPr>
              <a:t>• The probability of choosing each action on every trial</a:t>
            </a:r>
          </a:p>
          <a:p>
            <a:r>
              <a:rPr>
                <a:latin typeface="Aptos"/>
              </a:rPr>
              <a:t>• The negative log-likelihood of the full behavior sequence</a:t>
            </a:r>
          </a:p>
          <a:p>
            <a:r>
              <a:rPr>
                <a:latin typeface="Aptos"/>
              </a:rPr>
              <a:t>• Fitted parameters such as learning rate, temperature, or forgetting</a:t>
            </a:r>
          </a:p>
        </p:txBody>
      </p:sp>
      <p:sp>
        <p:nvSpPr>
          <p:cNvPr id="16" name="Shape 14"/>
          <p:cNvSpPr/>
          <p:nvPr/>
        </p:nvSpPr>
        <p:spPr>
          <a:xfrm>
            <a:off x="8183880" y="1234440"/>
            <a:ext cx="3291840" cy="3931920"/>
          </a:xfrm>
          <a:prstGeom prst="roundRect">
            <a:avLst>
              <a:gd name="adj" fmla="val 1667"/>
            </a:avLst>
          </a:prstGeom>
          <a:solidFill>
            <a:srgbClr val="F7FFF9"/>
          </a:solidFill>
          <a:ln w="10160">
            <a:solidFill>
              <a:srgbClr val="BC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58200" y="1600200"/>
            <a:ext cx="2880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Why compare models?</a:t>
            </a:r>
          </a:p>
        </p:txBody>
      </p:sp>
      <p:sp>
        <p:nvSpPr>
          <p:cNvPr id="18" name="Text 16"/>
          <p:cNvSpPr/>
          <p:nvPr/>
        </p:nvSpPr>
        <p:spPr>
          <a:xfrm>
            <a:off x="845820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>
                <a:latin typeface="Aptos"/>
              </a:rPr>
              <a:t>Because different theories can explain the same behavior. Model comparison asks which explanation predicts the data best, while staying simple.</a:t>
            </a:r>
          </a:p>
        </p:txBody>
      </p:sp>
      <p:sp>
        <p:nvSpPr>
          <p:cNvPr id="19" name="Text 17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METHOD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The overall </a:t>
            </a:r>
            <a:r>
              <a:rPr sz="2800" b="1" dirty="0" err="1">
                <a:latin typeface="Aptos"/>
              </a:rPr>
              <a:t>GeCCo</a:t>
            </a:r>
            <a:r>
              <a:rPr sz="2800" b="1" dirty="0">
                <a:latin typeface="Aptos"/>
              </a:rPr>
              <a:t> pipeline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The LLM proposes models, a traditional optimizer evaluates them, and the feedback goes back to the LLM.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1101852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523" y="1216152"/>
            <a:ext cx="7750193" cy="31912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800600"/>
            <a:ext cx="107899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>
                <a:latin typeface="Aptos"/>
              </a:rPr>
              <a:t>• The prompt contains the task description, some participant data, a code template, and output rules.</a:t>
            </a:r>
          </a:p>
          <a:p>
            <a:r>
              <a:rPr>
                <a:latin typeface="Aptos"/>
              </a:rPr>
              <a:t>• In each round, the LLM generates 3 different Python cognitive models.</a:t>
            </a:r>
          </a:p>
          <a:p>
            <a:r>
              <a:rPr>
                <a:latin typeface="Aptos"/>
              </a:rPr>
              <a:t>• Each model is fitted on held-out validation data and evaluated with BIC.</a:t>
            </a:r>
          </a:p>
          <a:p>
            <a:r>
              <a:rPr>
                <a:latin typeface="Aptos"/>
              </a:rPr>
              <a:t>• The current best model and previously used parameters are fed back into the next prompt.</a:t>
            </a:r>
          </a:p>
        </p:txBody>
      </p:sp>
      <p:sp>
        <p:nvSpPr>
          <p:cNvPr id="11" name="Text 8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855" y="1385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METHOD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What exactly goes into the </a:t>
            </a:r>
            <a:r>
              <a:rPr sz="2800" b="1" dirty="0" err="1">
                <a:latin typeface="Aptos"/>
              </a:rPr>
              <a:t>GeCCo</a:t>
            </a:r>
            <a:r>
              <a:rPr sz="2800" b="1" dirty="0">
                <a:latin typeface="Aptos"/>
              </a:rPr>
              <a:t> prompt?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This step determines whether the LLM output is executable and comparable.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1920240" cy="370332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0408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18745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b="1" dirty="0">
                <a:latin typeface="Aptos"/>
              </a:rPr>
              <a:t>Task description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1463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r>
              <a:rPr>
                <a:latin typeface="Aptos"/>
              </a:rPr>
              <a:t>A natural-language explanation of what participants do, what they see, and how they choose.</a:t>
            </a:r>
          </a:p>
        </p:txBody>
      </p:sp>
      <p:sp>
        <p:nvSpPr>
          <p:cNvPr id="12" name="Shape 10"/>
          <p:cNvSpPr/>
          <p:nvPr/>
        </p:nvSpPr>
        <p:spPr>
          <a:xfrm>
            <a:off x="2880360" y="1325880"/>
            <a:ext cx="1920240" cy="3703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99008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</a:t>
            </a:r>
          </a:p>
        </p:txBody>
      </p:sp>
      <p:sp>
        <p:nvSpPr>
          <p:cNvPr id="14" name="Text 12"/>
          <p:cNvSpPr/>
          <p:nvPr/>
        </p:nvSpPr>
        <p:spPr>
          <a:xfrm>
            <a:off x="3081528" y="18745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b="1" dirty="0">
                <a:latin typeface="Aptos"/>
              </a:rPr>
              <a:t>Behavioral data</a:t>
            </a:r>
          </a:p>
        </p:txBody>
      </p:sp>
      <p:sp>
        <p:nvSpPr>
          <p:cNvPr id="15" name="Text 13"/>
          <p:cNvSpPr/>
          <p:nvPr/>
        </p:nvSpPr>
        <p:spPr>
          <a:xfrm>
            <a:off x="3108960" y="2606040"/>
            <a:ext cx="1463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latin typeface="Aptos"/>
              </a:rPr>
              <a:t>Trial-by-trial participant behavior written as text.</a:t>
            </a:r>
          </a:p>
        </p:txBody>
      </p:sp>
      <p:sp>
        <p:nvSpPr>
          <p:cNvPr id="16" name="Shape 14"/>
          <p:cNvSpPr/>
          <p:nvPr/>
        </p:nvSpPr>
        <p:spPr>
          <a:xfrm>
            <a:off x="5166360" y="1325880"/>
            <a:ext cx="1920240" cy="370332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7608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5367528" y="18745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 dirty="0">
                <a:latin typeface="Aptos"/>
              </a:rPr>
              <a:t>Guardrails</a:t>
            </a:r>
          </a:p>
        </p:txBody>
      </p:sp>
      <p:sp>
        <p:nvSpPr>
          <p:cNvPr id="19" name="Text 17"/>
          <p:cNvSpPr/>
          <p:nvPr/>
        </p:nvSpPr>
        <p:spPr>
          <a:xfrm>
            <a:off x="5394960" y="2606040"/>
            <a:ext cx="1463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r>
              <a:rPr>
                <a:latin typeface="Aptos"/>
              </a:rPr>
              <a:t>Rules such as function names, inputs, outputs, parameter constraints, and “bug-free Python.”</a:t>
            </a:r>
          </a:p>
        </p:txBody>
      </p:sp>
      <p:sp>
        <p:nvSpPr>
          <p:cNvPr id="20" name="Shape 18"/>
          <p:cNvSpPr/>
          <p:nvPr/>
        </p:nvSpPr>
        <p:spPr>
          <a:xfrm>
            <a:off x="7452360" y="1325880"/>
            <a:ext cx="1920240" cy="3703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56208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4</a:t>
            </a:r>
          </a:p>
        </p:txBody>
      </p:sp>
      <p:sp>
        <p:nvSpPr>
          <p:cNvPr id="22" name="Text 20"/>
          <p:cNvSpPr/>
          <p:nvPr/>
        </p:nvSpPr>
        <p:spPr>
          <a:xfrm>
            <a:off x="7653528" y="18745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b="1" dirty="0">
                <a:latin typeface="Aptos"/>
              </a:rPr>
              <a:t>Code template</a:t>
            </a:r>
          </a:p>
        </p:txBody>
      </p:sp>
      <p:sp>
        <p:nvSpPr>
          <p:cNvPr id="23" name="Text 21"/>
          <p:cNvSpPr/>
          <p:nvPr/>
        </p:nvSpPr>
        <p:spPr>
          <a:xfrm>
            <a:off x="7680960" y="2606040"/>
            <a:ext cx="1463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>
                <a:latin typeface="Aptos"/>
              </a:rPr>
              <a:t>A simple model skeleton that helps the LLM follow the right structure.</a:t>
            </a:r>
          </a:p>
        </p:txBody>
      </p:sp>
      <p:sp>
        <p:nvSpPr>
          <p:cNvPr id="24" name="Shape 22"/>
          <p:cNvSpPr/>
          <p:nvPr/>
        </p:nvSpPr>
        <p:spPr>
          <a:xfrm>
            <a:off x="9738360" y="1325880"/>
            <a:ext cx="1920240" cy="370332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84808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5</a:t>
            </a:r>
          </a:p>
        </p:txBody>
      </p:sp>
      <p:sp>
        <p:nvSpPr>
          <p:cNvPr id="26" name="Text 24"/>
          <p:cNvSpPr/>
          <p:nvPr/>
        </p:nvSpPr>
        <p:spPr>
          <a:xfrm>
            <a:off x="9939528" y="18745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 dirty="0">
                <a:latin typeface="Aptos"/>
              </a:rPr>
              <a:t>Feedback</a:t>
            </a:r>
          </a:p>
        </p:txBody>
      </p:sp>
      <p:sp>
        <p:nvSpPr>
          <p:cNvPr id="27" name="Text 25"/>
          <p:cNvSpPr/>
          <p:nvPr/>
        </p:nvSpPr>
        <p:spPr>
          <a:xfrm>
            <a:off x="9966960" y="2606040"/>
            <a:ext cx="14630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r>
              <a:rPr>
                <a:latin typeface="Aptos"/>
              </a:rPr>
              <a:t>From the second iteration onward: the best model so far and already-used parameters.</a:t>
            </a:r>
          </a:p>
        </p:txBody>
      </p:sp>
      <p:sp>
        <p:nvSpPr>
          <p:cNvPr id="28" name="Shape 26"/>
          <p:cNvSpPr/>
          <p:nvPr/>
        </p:nvSpPr>
        <p:spPr>
          <a:xfrm>
            <a:off x="914400" y="5486400"/>
            <a:ext cx="10241280" cy="54864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51560" y="56235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In simple words: the prompt gives the LLM both the scientific task and the programming format.</a:t>
            </a:r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APPENDIX A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Prompt structure: the full version in the appendix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The paper makes the prompt very explicit, so the experiment is reproducible.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512064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6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74" y="1170432"/>
            <a:ext cx="4653411" cy="49743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2344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92240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/>
                </a:solidFill>
                <a:latin typeface="Aptos"/>
              </a:rPr>
              <a:t>How to read this figure</a:t>
            </a:r>
          </a:p>
        </p:txBody>
      </p:sp>
      <p:sp>
        <p:nvSpPr>
          <p:cNvPr id="12" name="Text 9"/>
          <p:cNvSpPr/>
          <p:nvPr/>
        </p:nvSpPr>
        <p:spPr>
          <a:xfrm>
            <a:off x="6492240" y="2148840"/>
            <a:ext cx="44805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r>
              <a:rPr dirty="0">
                <a:latin typeface="Aptos"/>
              </a:rPr>
              <a:t>• Top left: task description, so the LLM understands the experiment.</a:t>
            </a:r>
          </a:p>
          <a:p>
            <a:r>
              <a:rPr dirty="0">
                <a:latin typeface="Aptos"/>
              </a:rPr>
              <a:t>• Middle left: participant data in text form.</a:t>
            </a:r>
          </a:p>
          <a:p>
            <a:r>
              <a:rPr dirty="0">
                <a:latin typeface="Aptos"/>
              </a:rPr>
              <a:t>• Top right: guardrails, forcing Python functions as output.</a:t>
            </a:r>
          </a:p>
          <a:p>
            <a:r>
              <a:rPr dirty="0">
                <a:latin typeface="Aptos"/>
              </a:rPr>
              <a:t>• Bottom right: feedback, so the next round avoids repeating old models.</a:t>
            </a:r>
          </a:p>
          <a:p>
            <a:r>
              <a:rPr dirty="0">
                <a:latin typeface="Aptos"/>
              </a:rPr>
              <a:t>• Center: template, keeping the function structure stable.</a:t>
            </a:r>
          </a:p>
        </p:txBody>
      </p:sp>
      <p:sp>
        <p:nvSpPr>
          <p:cNvPr id="13" name="Text 10"/>
          <p:cNvSpPr/>
          <p:nvPr/>
        </p:nvSpPr>
        <p:spPr>
          <a:xfrm>
            <a:off x="6492240" y="49834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This is why GeCCo is guided code generation with feedback, not a one-shot prompt.</a:t>
            </a:r>
          </a:p>
        </p:txBody>
      </p:sp>
      <p:sp>
        <p:nvSpPr>
          <p:cNvPr id="14" name="Text 11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latin typeface="Aptos"/>
              </a:rPr>
              <a:t>Appendix · Figure 6 on page 14</a:t>
            </a:r>
          </a:p>
        </p:txBody>
      </p:sp>
      <p:sp>
        <p:nvSpPr>
          <p:cNvPr id="15" name="Text 12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EVALUATION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How does the paper judge whether a model is good?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It does not ask whether the model sounds nice. It asks whether the model predicts behavior.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NLL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1984248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Negative log-likelihood: the higher the probability the model assigns to real choices, the lower the NLL.</a:t>
            </a:r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80560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1"/>
                </a:solidFill>
                <a:latin typeface="Aptos"/>
              </a:rPr>
              <a:t>BIC</a:t>
            </a:r>
          </a:p>
        </p:txBody>
      </p:sp>
      <p:sp>
        <p:nvSpPr>
          <p:cNvPr id="13" name="Text 11"/>
          <p:cNvSpPr/>
          <p:nvPr/>
        </p:nvSpPr>
        <p:spPr>
          <a:xfrm>
            <a:off x="4498848" y="1984248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A fit score that also penalizes the number of parameters; lower is better and simpler is rewarded.</a:t>
            </a:r>
          </a:p>
        </p:txBody>
      </p:sp>
      <p:sp>
        <p:nvSpPr>
          <p:cNvPr id="14" name="Shape 12"/>
          <p:cNvSpPr/>
          <p:nvPr/>
        </p:nvSpPr>
        <p:spPr>
          <a:xfrm>
            <a:off x="8092440" y="128016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83880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EXP</a:t>
            </a:r>
          </a:p>
        </p:txBody>
      </p:sp>
      <p:sp>
        <p:nvSpPr>
          <p:cNvPr id="16" name="Text 14"/>
          <p:cNvSpPr/>
          <p:nvPr/>
        </p:nvSpPr>
        <p:spPr>
          <a:xfrm>
            <a:off x="8202168" y="1984248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Exceedance probability: the probability that one model explains the data better than the competitors.</a:t>
            </a:r>
          </a:p>
        </p:txBody>
      </p:sp>
      <p:sp>
        <p:nvSpPr>
          <p:cNvPr id="17" name="Shape 15"/>
          <p:cNvSpPr/>
          <p:nvPr/>
        </p:nvSpPr>
        <p:spPr>
          <a:xfrm>
            <a:off x="1097280" y="4206240"/>
            <a:ext cx="9966960" cy="749808"/>
          </a:xfrm>
          <a:prstGeom prst="roundRect">
            <a:avLst>
              <a:gd name="adj" fmla="val 7317"/>
            </a:avLst>
          </a:prstGeom>
          <a:solidFill>
            <a:srgbClr val="F4F9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34440" y="434340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dirty="0">
                <a:latin typeface="Aptos"/>
              </a:rPr>
              <a:t>One more important check is the posterior predictive check: simulate behavior from the model and see whether the simulated behavior looks like real human behavior.</a:t>
            </a:r>
          </a:p>
        </p:txBody>
      </p:sp>
      <p:sp>
        <p:nvSpPr>
          <p:cNvPr id="19" name="Text 17"/>
          <p:cNvSpPr/>
          <p:nvPr/>
        </p:nvSpPr>
        <p:spPr>
          <a:xfrm>
            <a:off x="96012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8</a:t>
            </a:r>
          </a:p>
        </p:txBody>
      </p:sp>
      <p:sp>
        <p:nvSpPr>
          <p:cNvPr id="21" name="Text 19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EXPERIMENTS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latin typeface="Aptos"/>
              </a:rPr>
              <a:t>Four experiments across four cognitive domains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Decision making, learning, planning, and working memory.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4173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</a:t>
            </a:r>
          </a:p>
        </p:txBody>
      </p:sp>
      <p:sp>
        <p:nvSpPr>
          <p:cNvPr id="10" name="Shape 8"/>
          <p:cNvSpPr/>
          <p:nvPr/>
        </p:nvSpPr>
        <p:spPr>
          <a:xfrm>
            <a:off x="2011680" y="1234440"/>
            <a:ext cx="265176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057400" y="13807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Task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21031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09160" y="1380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Literature baseline</a:t>
            </a:r>
          </a:p>
        </p:txBody>
      </p:sp>
      <p:sp>
        <p:nvSpPr>
          <p:cNvPr id="14" name="Shape 12"/>
          <p:cNvSpPr/>
          <p:nvPr/>
        </p:nvSpPr>
        <p:spPr>
          <a:xfrm>
            <a:off x="6766560" y="1234440"/>
            <a:ext cx="48463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12280" y="138074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GeCCo key result</a:t>
            </a:r>
          </a:p>
        </p:txBody>
      </p:sp>
      <p:sp>
        <p:nvSpPr>
          <p:cNvPr id="16" name="Shape 14"/>
          <p:cNvSpPr/>
          <p:nvPr/>
        </p:nvSpPr>
        <p:spPr>
          <a:xfrm>
            <a:off x="594360" y="1737360"/>
            <a:ext cx="141732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7512" y="1892808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1 Decision making</a:t>
            </a:r>
          </a:p>
        </p:txBody>
      </p:sp>
      <p:sp>
        <p:nvSpPr>
          <p:cNvPr id="18" name="Shape 16"/>
          <p:cNvSpPr/>
          <p:nvPr/>
        </p:nvSpPr>
        <p:spPr>
          <a:xfrm>
            <a:off x="2011680" y="1737360"/>
            <a:ext cx="265176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084832" y="189280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Multi-feature choice</a:t>
            </a:r>
          </a:p>
        </p:txBody>
      </p:sp>
      <p:sp>
        <p:nvSpPr>
          <p:cNvPr id="20" name="Shape 18"/>
          <p:cNvSpPr/>
          <p:nvPr/>
        </p:nvSpPr>
        <p:spPr>
          <a:xfrm>
            <a:off x="4663440" y="1737360"/>
            <a:ext cx="210312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736592" y="189280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pWADD</a:t>
            </a:r>
          </a:p>
        </p:txBody>
      </p:sp>
      <p:sp>
        <p:nvSpPr>
          <p:cNvPr id="22" name="Shape 20"/>
          <p:cNvSpPr/>
          <p:nvPr/>
        </p:nvSpPr>
        <p:spPr>
          <a:xfrm>
            <a:off x="6766560" y="1737360"/>
            <a:ext cx="484632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39712" y="1892808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R1 / Llama beat the baseline</a:t>
            </a:r>
          </a:p>
        </p:txBody>
      </p:sp>
      <p:sp>
        <p:nvSpPr>
          <p:cNvPr id="24" name="Shape 22"/>
          <p:cNvSpPr/>
          <p:nvPr/>
        </p:nvSpPr>
        <p:spPr>
          <a:xfrm>
            <a:off x="594360" y="2578608"/>
            <a:ext cx="14173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7512" y="273405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2 Learning</a:t>
            </a:r>
          </a:p>
        </p:txBody>
      </p:sp>
      <p:sp>
        <p:nvSpPr>
          <p:cNvPr id="26" name="Shape 24"/>
          <p:cNvSpPr/>
          <p:nvPr/>
        </p:nvSpPr>
        <p:spPr>
          <a:xfrm>
            <a:off x="2011680" y="2578608"/>
            <a:ext cx="26517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084832" y="273405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Two-armed bandit</a:t>
            </a:r>
          </a:p>
        </p:txBody>
      </p:sp>
      <p:sp>
        <p:nvSpPr>
          <p:cNvPr id="28" name="Shape 26"/>
          <p:cNvSpPr/>
          <p:nvPr/>
        </p:nvSpPr>
        <p:spPr>
          <a:xfrm>
            <a:off x="4663440" y="2578608"/>
            <a:ext cx="21031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36592" y="2734056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RW4α</a:t>
            </a:r>
          </a:p>
        </p:txBody>
      </p:sp>
      <p:sp>
        <p:nvSpPr>
          <p:cNvPr id="30" name="Shape 28"/>
          <p:cNvSpPr/>
          <p:nvPr/>
        </p:nvSpPr>
        <p:spPr>
          <a:xfrm>
            <a:off x="6766560" y="2578608"/>
            <a:ext cx="48463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39712" y="2734056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Llama performs better</a:t>
            </a:r>
          </a:p>
        </p:txBody>
      </p:sp>
      <p:sp>
        <p:nvSpPr>
          <p:cNvPr id="32" name="Shape 30"/>
          <p:cNvSpPr/>
          <p:nvPr/>
        </p:nvSpPr>
        <p:spPr>
          <a:xfrm>
            <a:off x="594360" y="3419856"/>
            <a:ext cx="141732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7512" y="3575304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3 Planning</a:t>
            </a:r>
          </a:p>
        </p:txBody>
      </p:sp>
      <p:sp>
        <p:nvSpPr>
          <p:cNvPr id="34" name="Shape 32"/>
          <p:cNvSpPr/>
          <p:nvPr/>
        </p:nvSpPr>
        <p:spPr>
          <a:xfrm>
            <a:off x="2011680" y="3419856"/>
            <a:ext cx="265176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084832" y="357530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Two-step task</a:t>
            </a:r>
          </a:p>
        </p:txBody>
      </p:sp>
      <p:sp>
        <p:nvSpPr>
          <p:cNvPr id="36" name="Shape 34"/>
          <p:cNvSpPr/>
          <p:nvPr/>
        </p:nvSpPr>
        <p:spPr>
          <a:xfrm>
            <a:off x="4663440" y="3419856"/>
            <a:ext cx="210312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736592" y="357530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Hybrid model</a:t>
            </a:r>
          </a:p>
        </p:txBody>
      </p:sp>
      <p:sp>
        <p:nvSpPr>
          <p:cNvPr id="38" name="Shape 36"/>
          <p:cNvSpPr/>
          <p:nvPr/>
        </p:nvSpPr>
        <p:spPr>
          <a:xfrm>
            <a:off x="6766560" y="3419856"/>
            <a:ext cx="4846320" cy="841248"/>
          </a:xfrm>
          <a:prstGeom prst="rect">
            <a:avLst/>
          </a:prstGeom>
          <a:solidFill>
            <a:srgbClr val="F7FB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839712" y="3575304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R1 is favored by EXP</a:t>
            </a:r>
          </a:p>
        </p:txBody>
      </p:sp>
      <p:sp>
        <p:nvSpPr>
          <p:cNvPr id="40" name="Shape 38"/>
          <p:cNvSpPr/>
          <p:nvPr/>
        </p:nvSpPr>
        <p:spPr>
          <a:xfrm>
            <a:off x="594360" y="4261104"/>
            <a:ext cx="14173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67512" y="441655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4 Working memory</a:t>
            </a:r>
          </a:p>
        </p:txBody>
      </p:sp>
      <p:sp>
        <p:nvSpPr>
          <p:cNvPr id="42" name="Shape 40"/>
          <p:cNvSpPr/>
          <p:nvPr/>
        </p:nvSpPr>
        <p:spPr>
          <a:xfrm>
            <a:off x="2011680" y="4261104"/>
            <a:ext cx="26517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084832" y="44165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RL-WM task</a:t>
            </a:r>
          </a:p>
        </p:txBody>
      </p:sp>
      <p:sp>
        <p:nvSpPr>
          <p:cNvPr id="44" name="Shape 42"/>
          <p:cNvSpPr/>
          <p:nvPr/>
        </p:nvSpPr>
        <p:spPr>
          <a:xfrm>
            <a:off x="4663440" y="4261104"/>
            <a:ext cx="21031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736592" y="441655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RL-WM</a:t>
            </a:r>
          </a:p>
        </p:txBody>
      </p:sp>
      <p:sp>
        <p:nvSpPr>
          <p:cNvPr id="46" name="Shape 44"/>
          <p:cNvSpPr/>
          <p:nvPr/>
        </p:nvSpPr>
        <p:spPr>
          <a:xfrm>
            <a:off x="6766560" y="4261104"/>
            <a:ext cx="48463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839712" y="4416552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Llama performs better</a:t>
            </a:r>
          </a:p>
        </p:txBody>
      </p:sp>
      <p:sp>
        <p:nvSpPr>
          <p:cNvPr id="48" name="Shape 46"/>
          <p:cNvSpPr/>
          <p:nvPr/>
        </p:nvSpPr>
        <p:spPr>
          <a:xfrm>
            <a:off x="914400" y="548640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051560" y="56235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>
                <a:latin typeface="Aptos"/>
              </a:rPr>
              <a:t>The authors chose these tasks because they have well-established baselines and cover different types of cognition.</a:t>
            </a:r>
          </a:p>
        </p:txBody>
      </p:sp>
      <p:sp>
        <p:nvSpPr>
          <p:cNvPr id="50" name="Text 48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1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1: Decision making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How do people weigh different cues in a multi-feature choice?</a:t>
            </a:r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59893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2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728673"/>
            <a:ext cx="5843016" cy="25319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261872"/>
            <a:ext cx="4617720" cy="4023360"/>
          </a:xfrm>
          <a:prstGeom prst="roundRect">
            <a:avLst>
              <a:gd name="adj" fmla="val 1364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14400" y="1554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What is the task?</a:t>
            </a:r>
          </a:p>
        </p:txBody>
      </p:sp>
      <p:sp>
        <p:nvSpPr>
          <p:cNvPr id="12" name="Text 9"/>
          <p:cNvSpPr/>
          <p:nvPr/>
        </p:nvSpPr>
        <p:spPr>
          <a:xfrm>
            <a:off x="914400" y="2011680"/>
            <a:ext cx="38862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r>
              <a:rPr>
                <a:latin typeface="Aptos"/>
              </a:rPr>
              <a:t>• Participants choose between product A and product B.</a:t>
            </a:r>
          </a:p>
          <a:p>
            <a:r>
              <a:rPr>
                <a:latin typeface="Aptos"/>
              </a:rPr>
              <a:t>• Each product has 4 binary features.</a:t>
            </a:r>
          </a:p>
          <a:p>
            <a:r>
              <a:rPr>
                <a:latin typeface="Aptos"/>
              </a:rPr>
              <a:t>• Each feature has a different validity, meaning reliability.</a:t>
            </a:r>
          </a:p>
          <a:p>
            <a:r>
              <a:rPr>
                <a:latin typeface="Aptos"/>
              </a:rPr>
              <a:t>• The question: do people use only the most reliable cue, or do they combine all cues?</a:t>
            </a:r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0070C0"/>
                </a:solidFill>
                <a:latin typeface="Aptos"/>
              </a:rPr>
              <a:t>Literature baseline: </a:t>
            </a:r>
            <a:r>
              <a:rPr b="1" dirty="0" err="1">
                <a:solidFill>
                  <a:srgbClr val="0070C0"/>
                </a:solidFill>
                <a:latin typeface="Aptos"/>
              </a:rPr>
              <a:t>pWADD</a:t>
            </a:r>
            <a:endParaRPr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" y="4754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>
                <a:latin typeface="Aptos"/>
              </a:rPr>
              <a:t>A probabilistic weighted additive model that predicts choices with multiple feature weights.</a:t>
            </a:r>
          </a:p>
        </p:txBody>
      </p:sp>
      <p:sp>
        <p:nvSpPr>
          <p:cNvPr id="15" name="Text 12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1 · Figure 2 on page 4</a:t>
            </a:r>
          </a:p>
        </p:txBody>
      </p:sp>
      <p:sp>
        <p:nvSpPr>
          <p:cNvPr id="16" name="Text 13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1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1 result: the LLM found a simpler explanation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It uses one discount factor to move between classic heuristics.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926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52728" y="1749691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 / Llama</a:t>
            </a:r>
            <a:endParaRPr lang="en-US" altLang="zh-CN" dirty="0"/>
          </a:p>
          <a:p>
            <a:endParaRPr dirty="0"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Lower BIC than pWADD</a:t>
            </a:r>
          </a:p>
        </p:txBody>
      </p:sp>
      <p:sp>
        <p:nvSpPr>
          <p:cNvPr id="11" name="Shape 9"/>
          <p:cNvSpPr/>
          <p:nvPr/>
        </p:nvSpPr>
        <p:spPr>
          <a:xfrm>
            <a:off x="3886200" y="1325880"/>
            <a:ext cx="2926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26280" y="17327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parameter</a:t>
            </a:r>
            <a:endParaRPr lang="en-US" altLang="zh-CN" dirty="0"/>
          </a:p>
          <a:p>
            <a:endParaRPr dirty="0"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95928" y="2029968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More parsimonious than pWADD’s 4 feature weights</a:t>
            </a:r>
          </a:p>
        </p:txBody>
      </p:sp>
      <p:sp>
        <p:nvSpPr>
          <p:cNvPr id="14" name="Shape 12"/>
          <p:cNvSpPr/>
          <p:nvPr/>
        </p:nvSpPr>
        <p:spPr>
          <a:xfrm>
            <a:off x="6995160" y="1325880"/>
            <a:ext cx="2926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99832" y="1749691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D98E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PPC passed</a:t>
            </a:r>
            <a:endParaRPr lang="en-US" altLang="zh-CN" dirty="0"/>
          </a:p>
          <a:p>
            <a:endParaRPr dirty="0"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04888" y="2029968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Simulated choices closely match human behavior</a:t>
            </a:r>
          </a:p>
        </p:txBody>
      </p:sp>
      <p:sp>
        <p:nvSpPr>
          <p:cNvPr id="17" name="Shape 15"/>
          <p:cNvSpPr/>
          <p:nvPr/>
        </p:nvSpPr>
        <p:spPr>
          <a:xfrm>
            <a:off x="960120" y="3520440"/>
            <a:ext cx="10149840" cy="914400"/>
          </a:xfrm>
          <a:prstGeom prst="roundRect">
            <a:avLst>
              <a:gd name="adj" fmla="val 6000"/>
            </a:avLst>
          </a:prstGeom>
          <a:solidFill>
            <a:srgbClr val="F4F9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Scientific insight: the LLM-generated model is not random code. It proposes a continuous mechanism that can move from Take-the-Best to Weighted Additive to Equal Weighting.</a:t>
            </a:r>
          </a:p>
        </p:txBody>
      </p:sp>
      <p:sp>
        <p:nvSpPr>
          <p:cNvPr id="19" name="Text 17"/>
          <p:cNvSpPr/>
          <p:nvPr/>
        </p:nvSpPr>
        <p:spPr>
          <a:xfrm>
            <a:off x="1188720" y="4800600"/>
            <a:ext cx="95097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>
                <a:latin typeface="Aptos"/>
              </a:rPr>
              <a:t>Experiment 1</a:t>
            </a:r>
          </a:p>
        </p:txBody>
      </p:sp>
      <p:sp>
        <p:nvSpPr>
          <p:cNvPr id="20" name="Text 18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11</a:t>
            </a:r>
          </a:p>
        </p:txBody>
      </p:sp>
      <p:sp>
        <p:nvSpPr>
          <p:cNvPr id="21" name="Text 19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2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2: Learning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latin typeface="Aptos"/>
              </a:rPr>
              <a:t>How do people learn from rewards and from missed rewards in a bandit task?</a:t>
            </a:r>
          </a:p>
        </p:txBody>
      </p:sp>
      <p:sp>
        <p:nvSpPr>
          <p:cNvPr id="8" name="Shape 6"/>
          <p:cNvSpPr/>
          <p:nvPr/>
        </p:nvSpPr>
        <p:spPr>
          <a:xfrm>
            <a:off x="5623560" y="1143000"/>
            <a:ext cx="59893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3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701809"/>
            <a:ext cx="5843016" cy="2585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188720"/>
            <a:ext cx="4617720" cy="4206240"/>
          </a:xfrm>
          <a:prstGeom prst="roundRect">
            <a:avLst>
              <a:gd name="adj" fmla="val 1304"/>
            </a:avLst>
          </a:prstGeom>
          <a:solidFill>
            <a:srgbClr val="F7FFF9"/>
          </a:solidFill>
          <a:ln w="10160">
            <a:solidFill>
              <a:srgbClr val="BC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14400" y="1554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What is the task?</a:t>
            </a:r>
          </a:p>
        </p:txBody>
      </p:sp>
      <p:sp>
        <p:nvSpPr>
          <p:cNvPr id="12" name="Text 9"/>
          <p:cNvSpPr/>
          <p:nvPr/>
        </p:nvSpPr>
        <p:spPr>
          <a:xfrm>
            <a:off x="914400" y="2011680"/>
            <a:ext cx="39319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20000"/>
          </a:bodyPr>
          <a:lstStyle/>
          <a:p>
            <a:r>
              <a:rPr>
                <a:latin typeface="Aptos"/>
              </a:rPr>
              <a:t>• There are two options, and participants choose one each trial.</a:t>
            </a:r>
          </a:p>
          <a:p>
            <a:r>
              <a:rPr>
                <a:latin typeface="Aptos"/>
              </a:rPr>
              <a:t>• They observe the reward for the chosen action.</a:t>
            </a:r>
          </a:p>
          <a:p>
            <a:r>
              <a:rPr>
                <a:latin typeface="Aptos"/>
              </a:rPr>
              <a:t>• In the full-feedback condition, they also see the reward of the unchosen action.</a:t>
            </a:r>
          </a:p>
          <a:p>
            <a:r>
              <a:rPr>
                <a:latin typeface="Aptos"/>
              </a:rPr>
              <a:t>• The question: people may learn not only from what they got, but also from what they missed.</a:t>
            </a:r>
          </a:p>
        </p:txBody>
      </p:sp>
      <p:sp>
        <p:nvSpPr>
          <p:cNvPr id="13" name="Text 10"/>
          <p:cNvSpPr/>
          <p:nvPr/>
        </p:nvSpPr>
        <p:spPr>
          <a:xfrm>
            <a:off x="91440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00B050"/>
                </a:solidFill>
                <a:latin typeface="Aptos"/>
              </a:rPr>
              <a:t>Literature baseline: RW4α</a:t>
            </a:r>
          </a:p>
        </p:txBody>
      </p:sp>
      <p:sp>
        <p:nvSpPr>
          <p:cNvPr id="14" name="Text 11"/>
          <p:cNvSpPr/>
          <p:nvPr/>
        </p:nvSpPr>
        <p:spPr>
          <a:xfrm>
            <a:off x="91440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>
                <a:latin typeface="Aptos"/>
              </a:rPr>
              <a:t>A Rescorla-Wagner variant with chosen / unchosen × positive / negative prediction-error learning rates.</a:t>
            </a:r>
          </a:p>
        </p:txBody>
      </p:sp>
      <p:sp>
        <p:nvSpPr>
          <p:cNvPr id="15" name="Text 12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2 · Figure 3 on page 5</a:t>
            </a:r>
          </a:p>
        </p:txBody>
      </p:sp>
      <p:sp>
        <p:nvSpPr>
          <p:cNvPr id="16" name="Text 13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2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2 result: the LLM added two interesting mechanisms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Forgetting plus a counterfactual trace.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2788920" cy="28346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97280" y="178308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52144" y="185623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Asymmetric learning</a:t>
            </a:r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>
                <a:latin typeface="Aptos"/>
              </a:rPr>
              <a:t>Positive and negative prediction errors use different learning rates.</a:t>
            </a:r>
          </a:p>
        </p:txBody>
      </p:sp>
      <p:sp>
        <p:nvSpPr>
          <p:cNvPr id="12" name="Shape 10"/>
          <p:cNvSpPr/>
          <p:nvPr/>
        </p:nvSpPr>
        <p:spPr>
          <a:xfrm>
            <a:off x="4069080" y="1417320"/>
            <a:ext cx="2788920" cy="28346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D98E04"/>
          </a:solidFill>
          <a:ln w="12700">
            <a:solidFill>
              <a:srgbClr val="D98E0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43984" y="185623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Forgetting</a:t>
            </a:r>
          </a:p>
        </p:txBody>
      </p:sp>
      <p:sp>
        <p:nvSpPr>
          <p:cNvPr id="15" name="Text 13"/>
          <p:cNvSpPr/>
          <p:nvPr/>
        </p:nvSpPr>
        <p:spPr>
          <a:xfrm>
            <a:off x="4389120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r>
              <a:rPr>
                <a:latin typeface="Aptos"/>
              </a:rPr>
              <a:t>The value of the unchosen option decays, possibly capturing working-memory limits.</a:t>
            </a:r>
          </a:p>
        </p:txBody>
      </p:sp>
      <p:sp>
        <p:nvSpPr>
          <p:cNvPr id="16" name="Shape 14"/>
          <p:cNvSpPr/>
          <p:nvPr/>
        </p:nvSpPr>
        <p:spPr>
          <a:xfrm>
            <a:off x="7360920" y="1417320"/>
            <a:ext cx="2788920" cy="28346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680960" y="178308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35824" y="185623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Fictive trace</a:t>
            </a:r>
          </a:p>
        </p:txBody>
      </p:sp>
      <p:sp>
        <p:nvSpPr>
          <p:cNvPr id="19" name="Text 17"/>
          <p:cNvSpPr/>
          <p:nvPr/>
        </p:nvSpPr>
        <p:spPr>
          <a:xfrm>
            <a:off x="7680960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>
                <a:latin typeface="Aptos"/>
              </a:rPr>
              <a:t>The model separately learns from forgone outcomes, like regret or relief signals.</a:t>
            </a:r>
          </a:p>
        </p:txBody>
      </p:sp>
      <p:sp>
        <p:nvSpPr>
          <p:cNvPr id="20" name="Shape 18"/>
          <p:cNvSpPr/>
          <p:nvPr/>
        </p:nvSpPr>
        <p:spPr>
          <a:xfrm>
            <a:off x="960120" y="4800600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9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>
                <a:latin typeface="Aptos"/>
              </a:rPr>
              <a:t>Result: the Llama-generated model has a lower average BIC, and EXP = 0.97, which strongly favors the LLM model at the group level.</a:t>
            </a:r>
          </a:p>
        </p:txBody>
      </p:sp>
      <p:sp>
        <p:nvSpPr>
          <p:cNvPr id="22" name="Text 20"/>
          <p:cNvSpPr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2</a:t>
            </a:r>
          </a:p>
        </p:txBody>
      </p:sp>
      <p:sp>
        <p:nvSpPr>
          <p:cNvPr id="23" name="Text 21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13</a:t>
            </a:r>
          </a:p>
        </p:txBody>
      </p:sp>
      <p:sp>
        <p:nvSpPr>
          <p:cNvPr id="24" name="Text 22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3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3: Planning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In a two-step task, do people rely on habits or use the structure of the environment?</a:t>
            </a:r>
          </a:p>
        </p:txBody>
      </p:sp>
      <p:sp>
        <p:nvSpPr>
          <p:cNvPr id="8" name="Shape 6"/>
          <p:cNvSpPr/>
          <p:nvPr/>
        </p:nvSpPr>
        <p:spPr>
          <a:xfrm>
            <a:off x="5623560" y="1143000"/>
            <a:ext cx="59893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4_pla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681623"/>
            <a:ext cx="5843016" cy="26260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143000"/>
            <a:ext cx="4617720" cy="4389120"/>
          </a:xfrm>
          <a:prstGeom prst="roundRect">
            <a:avLst>
              <a:gd name="adj" fmla="val 1250"/>
            </a:avLst>
          </a:prstGeom>
          <a:solidFill>
            <a:srgbClr val="FFF9F0"/>
          </a:solidFill>
          <a:ln w="10160">
            <a:solidFill>
              <a:srgbClr val="F4D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1440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The task in plain language</a:t>
            </a:r>
          </a:p>
        </p:txBody>
      </p:sp>
      <p:sp>
        <p:nvSpPr>
          <p:cNvPr id="12" name="Text 9"/>
          <p:cNvSpPr/>
          <p:nvPr/>
        </p:nvSpPr>
        <p:spPr>
          <a:xfrm>
            <a:off x="914400" y="1965960"/>
            <a:ext cx="388620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/>
          </a:bodyPr>
          <a:lstStyle/>
          <a:p>
            <a:r>
              <a:rPr dirty="0">
                <a:latin typeface="Aptos"/>
              </a:rPr>
              <a:t>• First, choose a magic carpet.</a:t>
            </a:r>
          </a:p>
          <a:p>
            <a:r>
              <a:rPr dirty="0">
                <a:latin typeface="Aptos"/>
              </a:rPr>
              <a:t>• It usually takes you to one mountain, but sometimes there is a rare transition.</a:t>
            </a:r>
          </a:p>
          <a:p>
            <a:r>
              <a:rPr dirty="0">
                <a:latin typeface="Aptos"/>
              </a:rPr>
              <a:t>• Then choose a genie, which may give a reward.</a:t>
            </a:r>
          </a:p>
          <a:p>
            <a:r>
              <a:rPr dirty="0">
                <a:latin typeface="Aptos"/>
              </a:rPr>
              <a:t>• Model-free: repeat what was rewarded.</a:t>
            </a:r>
          </a:p>
          <a:p>
            <a:r>
              <a:rPr dirty="0">
                <a:latin typeface="Aptos"/>
              </a:rPr>
              <a:t>• Model-based: consider the transition structure; after a rare rewarded transition, switching may be better.</a:t>
            </a:r>
          </a:p>
        </p:txBody>
      </p:sp>
      <p:sp>
        <p:nvSpPr>
          <p:cNvPr id="13" name="Text 10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3 · Figure 4 on page 6</a:t>
            </a:r>
          </a:p>
        </p:txBody>
      </p:sp>
      <p:sp>
        <p:nvSpPr>
          <p:cNvPr id="14" name="Text 11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3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3 result: the LLM generated a simpler planning model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It does not force behavior into separate model-based and model-free systems.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49377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Literature model: Hybrid</a:t>
            </a:r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416052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>
                <a:latin typeface="Aptos"/>
              </a:rPr>
              <a:t>• Combines model-free SARSA(λ)</a:t>
            </a:r>
          </a:p>
          <a:p>
            <a:r>
              <a:rPr>
                <a:latin typeface="Aptos"/>
              </a:rPr>
              <a:t>• Combines model-based transition values</a:t>
            </a:r>
          </a:p>
          <a:p>
            <a:r>
              <a:rPr>
                <a:latin typeface="Aptos"/>
              </a:rPr>
              <a:t>• Uses a weight parameter w to mix them</a:t>
            </a:r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4937760" cy="3840480"/>
          </a:xfrm>
          <a:prstGeom prst="roundRect">
            <a:avLst>
              <a:gd name="adj" fmla="val 1429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12280" y="1572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LLM model: transition learning</a:t>
            </a:r>
          </a:p>
        </p:txBody>
      </p:sp>
      <p:sp>
        <p:nvSpPr>
          <p:cNvPr id="13" name="Text 11"/>
          <p:cNvSpPr/>
          <p:nvPr/>
        </p:nvSpPr>
        <p:spPr>
          <a:xfrm>
            <a:off x="6812280" y="2057400"/>
            <a:ext cx="4160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>
                <a:latin typeface="Aptos"/>
              </a:rPr>
              <a:t>• Learns common and rare transitions</a:t>
            </a:r>
          </a:p>
          <a:p>
            <a:r>
              <a:rPr>
                <a:latin typeface="Aptos"/>
              </a:rPr>
              <a:t>• Uses expected future value for choice</a:t>
            </a:r>
          </a:p>
          <a:p>
            <a:r>
              <a:rPr>
                <a:latin typeface="Aptos"/>
              </a:rPr>
              <a:t>• No explicit reward-discount parameter</a:t>
            </a:r>
          </a:p>
          <a:p>
            <a:r>
              <a:rPr>
                <a:latin typeface="Aptos"/>
              </a:rPr>
              <a:t>• Behavior still looks model-based</a:t>
            </a:r>
          </a:p>
        </p:txBody>
      </p:sp>
      <p:sp>
        <p:nvSpPr>
          <p:cNvPr id="14" name="Shape 12"/>
          <p:cNvSpPr/>
          <p:nvPr/>
        </p:nvSpPr>
        <p:spPr>
          <a:xfrm>
            <a:off x="1097280" y="5486400"/>
            <a:ext cx="9875520" cy="566928"/>
          </a:xfrm>
          <a:prstGeom prst="roundRect">
            <a:avLst>
              <a:gd name="adj" fmla="val 9677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34440" y="56235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>
                <a:latin typeface="Aptos"/>
              </a:rPr>
              <a:t>Scientific insight: planning behavior may not need a strict MB/MF split. It can also come from more general transition learning plus value updating.</a:t>
            </a:r>
          </a:p>
        </p:txBody>
      </p:sp>
      <p:sp>
        <p:nvSpPr>
          <p:cNvPr id="16" name="Text 14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3</a:t>
            </a:r>
          </a:p>
        </p:txBody>
      </p:sp>
      <p:sp>
        <p:nvSpPr>
          <p:cNvPr id="17" name="Text 15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4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4: Working memory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How much do reinforcement learning and working memory each contribute to learning?</a:t>
            </a:r>
          </a:p>
        </p:txBody>
      </p:sp>
      <p:sp>
        <p:nvSpPr>
          <p:cNvPr id="8" name="Shape 6"/>
          <p:cNvSpPr/>
          <p:nvPr/>
        </p:nvSpPr>
        <p:spPr>
          <a:xfrm>
            <a:off x="5577840" y="1143000"/>
            <a:ext cx="60350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5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717098"/>
            <a:ext cx="5888736" cy="25094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143000"/>
            <a:ext cx="4617720" cy="4251960"/>
          </a:xfrm>
          <a:prstGeom prst="roundRect">
            <a:avLst>
              <a:gd name="adj" fmla="val 1290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1440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What is the task?</a:t>
            </a:r>
          </a:p>
        </p:txBody>
      </p:sp>
      <p:sp>
        <p:nvSpPr>
          <p:cNvPr id="12" name="Text 9"/>
          <p:cNvSpPr/>
          <p:nvPr/>
        </p:nvSpPr>
        <p:spPr>
          <a:xfrm>
            <a:off x="914400" y="1965960"/>
            <a:ext cx="388620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/>
          </a:bodyPr>
          <a:lstStyle/>
          <a:p>
            <a:r>
              <a:rPr>
                <a:latin typeface="Aptos"/>
              </a:rPr>
              <a:t>• Participants learn stimulus-action associations.</a:t>
            </a:r>
          </a:p>
          <a:p>
            <a:r>
              <a:rPr>
                <a:latin typeface="Aptos"/>
              </a:rPr>
              <a:t>• Each block has set size 3 or 6.</a:t>
            </a:r>
          </a:p>
          <a:p>
            <a:r>
              <a:rPr>
                <a:latin typeface="Aptos"/>
              </a:rPr>
              <a:t>• Set size 3 = low load, so working memory should help more.</a:t>
            </a:r>
          </a:p>
          <a:p>
            <a:r>
              <a:rPr>
                <a:latin typeface="Aptos"/>
              </a:rPr>
              <a:t>• Set size 6 = high load, so learning should be slower and more incremental.</a:t>
            </a:r>
          </a:p>
          <a:p>
            <a:r>
              <a:rPr>
                <a:latin typeface="Aptos"/>
              </a:rPr>
              <a:t>• Goal: separate the roles of RL and WM.</a:t>
            </a:r>
          </a:p>
        </p:txBody>
      </p:sp>
      <p:sp>
        <p:nvSpPr>
          <p:cNvPr id="13" name="Text 10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4 · Figure 5 on page 7</a:t>
            </a:r>
          </a:p>
        </p:txBody>
      </p:sp>
      <p:sp>
        <p:nvSpPr>
          <p:cNvPr id="14" name="Text 11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EXPERIMENT 4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1212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Experiment 4 result: the LLM gives a different explanation of cognitive load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The effect is not only on WM weight; it may also affect the RL learning rate.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3063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Llama</a:t>
            </a:r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Lower BIC than the RL-WM baseline</a:t>
            </a:r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063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0" y="15270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EXP 0.99</a:t>
            </a:r>
          </a:p>
        </p:txBody>
      </p:sp>
      <p:sp>
        <p:nvSpPr>
          <p:cNvPr id="13" name="Text 11"/>
          <p:cNvSpPr/>
          <p:nvPr/>
        </p:nvSpPr>
        <p:spPr>
          <a:xfrm>
            <a:off x="4590288" y="2029968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Group-level comparison strongly favors the LLM model</a:t>
            </a:r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063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75320" y="15270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rgbClr val="002060"/>
                </a:solidFill>
                <a:latin typeface="Aptos"/>
              </a:rPr>
              <a:t>Load effect</a:t>
            </a:r>
          </a:p>
        </p:txBody>
      </p:sp>
      <p:sp>
        <p:nvSpPr>
          <p:cNvPr id="16" name="Text 14"/>
          <p:cNvSpPr/>
          <p:nvPr/>
        </p:nvSpPr>
        <p:spPr>
          <a:xfrm>
            <a:off x="8293608" y="2029968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Low load shows fast learning; high load shows slower learning.</a:t>
            </a:r>
          </a:p>
        </p:txBody>
      </p:sp>
      <p:sp>
        <p:nvSpPr>
          <p:cNvPr id="17" name="Shape 15"/>
          <p:cNvSpPr/>
          <p:nvPr/>
        </p:nvSpPr>
        <p:spPr>
          <a:xfrm>
            <a:off x="914400" y="361188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F4F9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The interesting part: the classic RL-WM model treats set size mainly as a change in WM weight. The LLM model places the load effect in RL learning rate instead.</a:t>
            </a:r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17</a:t>
            </a:r>
          </a:p>
        </p:txBody>
      </p:sp>
      <p:sp>
        <p:nvSpPr>
          <p:cNvPr id="21" name="Text 19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9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4C77"/>
                </a:solidFill>
                <a:latin typeface="Aptos"/>
              </a:rPr>
              <a:t>CONTROL EXPERIMENTS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880" y="582537"/>
            <a:ext cx="1080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Control experiments: how do the authors show this is not a fluke?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1057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ptos"/>
              </a:rPr>
              <a:t>They run five robustness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600200"/>
            <a:ext cx="978408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172821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70992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Model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1746504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ptos"/>
              </a:rPr>
              <a:t>Compare the contributions of reasoning ability, model family, and model size.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331720"/>
            <a:ext cx="978408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" y="24597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244144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Prompt ablation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478024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ptos"/>
              </a:rPr>
              <a:t>Remove prompt components and test how much performance drops.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063239"/>
            <a:ext cx="978408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31912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17296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Data contamination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209544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ptos"/>
              </a:rPr>
              <a:t>Check whether the LLM may have memorized the datasets.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794759"/>
            <a:ext cx="978408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392277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3904487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Synthetic recovery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3941063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ptos"/>
              </a:rPr>
              <a:t>Use simulated data with known ground truth and see whether GeCCo can recover it.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526279"/>
            <a:ext cx="978408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1560" y="465429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9888" y="4672583"/>
            <a:ext cx="2103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Explainable variance</a:t>
            </a:r>
            <a:endParaRPr lang="en-US" altLang="zh-CN" sz="14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657600" y="4672583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Aptos"/>
              </a:rPr>
              <a:t>Compare with a foundation model of human cognition to estimate explainable variance.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715000"/>
            <a:ext cx="9144000" cy="41148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25880" y="58155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84C77"/>
                </a:solidFill>
                <a:latin typeface="Aptos"/>
              </a:rPr>
              <a:t>The control experiments test whether GeCCo is genuinely modeling behavior, not just getting lucky.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3550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82A0"/>
                </a:solidFill>
                <a:latin typeface="Aptos"/>
              </a:rPr>
              <a:t>CONTROL EXPERIMENTS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6355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88CA0"/>
                </a:solidFill>
                <a:latin typeface="Aptos"/>
              </a:rPr>
              <a:t>Control experiments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6355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88CA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Prompt ablation: which part matters most?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Answer: feedback matters the most, followed by data and task description.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64008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9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77756"/>
            <a:ext cx="6254496" cy="31594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60920" y="1234440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635240" y="1600200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 dirty="0">
                <a:latin typeface="Aptos"/>
              </a:rPr>
              <a:t>How to read the figure</a:t>
            </a:r>
          </a:p>
        </p:txBody>
      </p:sp>
      <p:sp>
        <p:nvSpPr>
          <p:cNvPr id="12" name="Text 9"/>
          <p:cNvSpPr/>
          <p:nvPr/>
        </p:nvSpPr>
        <p:spPr>
          <a:xfrm>
            <a:off x="7635240" y="2057400"/>
            <a:ext cx="347472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20000"/>
          </a:bodyPr>
          <a:lstStyle/>
          <a:p>
            <a:r>
              <a:rPr>
                <a:latin typeface="Aptos"/>
              </a:rPr>
              <a:t>• “No ablation” means the full prompt.</a:t>
            </a:r>
          </a:p>
          <a:p>
            <a:r>
              <a:rPr>
                <a:latin typeface="Aptos"/>
              </a:rPr>
              <a:t>• Removing a component makes BIC increase = worse models.</a:t>
            </a:r>
          </a:p>
          <a:p>
            <a:r>
              <a:rPr>
                <a:latin typeface="Aptos"/>
              </a:rPr>
              <a:t>• Removing feedback has the biggest effect, so iterative feedback is the core of GeCCo.</a:t>
            </a:r>
          </a:p>
        </p:txBody>
      </p:sp>
      <p:sp>
        <p:nvSpPr>
          <p:cNvPr id="13" name="Shape 10"/>
          <p:cNvSpPr/>
          <p:nvPr/>
        </p:nvSpPr>
        <p:spPr>
          <a:xfrm>
            <a:off x="914400" y="516636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05156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>
                <a:latin typeface="Aptos"/>
              </a:rPr>
              <a:t>Conclusion: GeCCo is not a one-shot burst of LLM inspiration. It improves through generate → test → feedback → generate again.</a:t>
            </a:r>
          </a:p>
        </p:txBody>
      </p:sp>
      <p:sp>
        <p:nvSpPr>
          <p:cNvPr id="15" name="Text 12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 · Figure 9 on page 24</a:t>
            </a:r>
          </a:p>
        </p:txBody>
      </p:sp>
      <p:sp>
        <p:nvSpPr>
          <p:cNvPr id="16" name="Text 13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855" y="-1385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Data contamination: did the LLM already see the data?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The authors use LogProber and find no clear evidence of contamination.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57150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10_contam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510977"/>
            <a:ext cx="5568696" cy="241872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03720" y="1353312"/>
            <a:ext cx="4389120" cy="2788920"/>
          </a:xfrm>
          <a:prstGeom prst="roundRect">
            <a:avLst>
              <a:gd name="adj" fmla="val 1967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31520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latin typeface="Aptos"/>
              </a:rPr>
              <a:t>Why does this matter?</a:t>
            </a:r>
          </a:p>
        </p:txBody>
      </p:sp>
      <p:sp>
        <p:nvSpPr>
          <p:cNvPr id="12" name="Text 9"/>
          <p:cNvSpPr/>
          <p:nvPr/>
        </p:nvSpPr>
        <p:spPr>
          <a:xfrm>
            <a:off x="7315200" y="2148840"/>
            <a:ext cx="365760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r>
              <a:rPr>
                <a:latin typeface="Aptos"/>
              </a:rPr>
              <a:t>• If the LLM saw the data during training, the result might not reflect modeling ability.</a:t>
            </a:r>
          </a:p>
          <a:p>
            <a:r>
              <a:rPr>
                <a:latin typeface="Aptos"/>
              </a:rPr>
              <a:t>• LogProber checks whether sequence log-likelihood looks suspiciously memorized.</a:t>
            </a:r>
          </a:p>
          <a:p>
            <a:r>
              <a:rPr>
                <a:latin typeface="Aptos"/>
              </a:rPr>
              <a:t>• The threshold for possible contamination is log(B) ≥ 1.</a:t>
            </a:r>
          </a:p>
          <a:p>
            <a:r>
              <a:rPr>
                <a:latin typeface="Aptos"/>
              </a:rPr>
              <a:t>• All tasks are clearly below 1.</a:t>
            </a:r>
          </a:p>
        </p:txBody>
      </p:sp>
      <p:sp>
        <p:nvSpPr>
          <p:cNvPr id="13" name="Shape 10"/>
          <p:cNvSpPr/>
          <p:nvPr/>
        </p:nvSpPr>
        <p:spPr>
          <a:xfrm>
            <a:off x="1097280" y="4937760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234440" y="507492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In simple terms: the authors try to rule out the possibility that the LLM is just recalling answers.</a:t>
            </a:r>
          </a:p>
        </p:txBody>
      </p:sp>
      <p:sp>
        <p:nvSpPr>
          <p:cNvPr id="15" name="Text 12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 · Figure 10 on page 24</a:t>
            </a:r>
          </a:p>
        </p:txBody>
      </p:sp>
      <p:sp>
        <p:nvSpPr>
          <p:cNvPr id="16" name="Text 13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Synthetic recovery: if the truth is known, can </a:t>
            </a:r>
            <a:r>
              <a:rPr sz="2800" b="1" dirty="0" err="1">
                <a:solidFill>
                  <a:schemeClr val="accent1">
                    <a:lumMod val="75000"/>
                  </a:schemeClr>
                </a:solidFill>
                <a:latin typeface="Aptos"/>
              </a:rPr>
              <a:t>GeCCo</a:t>
            </a:r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 find it?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Simulated data gives the authors ground truth, so this is a sanity check.</a:t>
            </a:r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7_synthetic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32554"/>
            <a:ext cx="5111496" cy="2495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18872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/mnt/data/gecco_assets/fig8_synthetic_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60932"/>
            <a:ext cx="5111496" cy="20388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937760"/>
            <a:ext cx="105156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20000"/>
          </a:bodyPr>
          <a:lstStyle/>
          <a:p>
            <a:r>
              <a:rPr>
                <a:latin typeface="Aptos"/>
              </a:rPr>
              <a:t>• Decision making: the LLM identifies Take-the-Best and Tallying; as noise increases, the task becomes harder, which is exactly what we expect.</a:t>
            </a:r>
          </a:p>
          <a:p>
            <a:r>
              <a:rPr>
                <a:latin typeface="Aptos"/>
              </a:rPr>
              <a:t>• Learning: the LLM recovers RW with two learning rates; for RW with stickiness, it proposes a value-decay alternative.</a:t>
            </a:r>
          </a:p>
        </p:txBody>
      </p:sp>
      <p:sp>
        <p:nvSpPr>
          <p:cNvPr id="13" name="Text 9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 · Figures 7–8 on pages 21–22</a:t>
            </a:r>
          </a:p>
        </p:txBody>
      </p:sp>
      <p:sp>
        <p:nvSpPr>
          <p:cNvPr id="14" name="Text 10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</a:t>
            </a:r>
          </a:p>
        </p:txBody>
      </p:sp>
      <p:sp>
        <p:nvSpPr>
          <p:cNvPr id="6" name="Text 4"/>
          <p:cNvSpPr/>
          <p:nvPr/>
        </p:nvSpPr>
        <p:spPr>
          <a:xfrm>
            <a:off x="411479" y="347472"/>
            <a:ext cx="120819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Comparison with CENTAUR: how much behavior does the LLM model capture?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CENTAUR is a foundation model for predicting human behavior, used here as a high bar.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How to read the result</a:t>
            </a:r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438912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>
                <a:latin typeface="Aptos"/>
              </a:rPr>
              <a:t>• Decision making: LLM and CENTAUR are close.</a:t>
            </a:r>
          </a:p>
          <a:p>
            <a:r>
              <a:rPr>
                <a:latin typeface="Aptos"/>
              </a:rPr>
              <a:t>• Learning: LLM has much lower NLL.</a:t>
            </a:r>
          </a:p>
          <a:p>
            <a:r>
              <a:rPr>
                <a:latin typeface="Aptos"/>
              </a:rPr>
              <a:t>• Planning: CENTAUR is slightly better, but the difference is not significant.</a:t>
            </a:r>
          </a:p>
          <a:p>
            <a:r>
              <a:rPr>
                <a:latin typeface="Aptos"/>
              </a:rPr>
              <a:t>• Memory: LLM has lower NLL.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F7FFF9"/>
          </a:solidFill>
          <a:ln w="10160">
            <a:solidFill>
              <a:srgbClr val="BCE7D1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20840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Key point</a:t>
            </a:r>
          </a:p>
        </p:txBody>
      </p:sp>
      <p:sp>
        <p:nvSpPr>
          <p:cNvPr id="13" name="Text 11"/>
          <p:cNvSpPr/>
          <p:nvPr/>
        </p:nvSpPr>
        <p:spPr>
          <a:xfrm>
            <a:off x="6720840" y="2057400"/>
            <a:ext cx="42519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dirty="0">
                <a:latin typeface="Aptos"/>
              </a:rPr>
              <a:t>CENTAUR is strong at prediction; </a:t>
            </a:r>
            <a:r>
              <a:rPr dirty="0" err="1">
                <a:latin typeface="Aptos"/>
              </a:rPr>
              <a:t>GeCCo</a:t>
            </a:r>
            <a:r>
              <a:rPr dirty="0">
                <a:latin typeface="Aptos"/>
              </a:rPr>
              <a:t> is strong because it stays interpretable.</a:t>
            </a:r>
          </a:p>
          <a:p>
            <a:endParaRPr dirty="0">
              <a:latin typeface="Aptos"/>
            </a:endParaRPr>
          </a:p>
          <a:p>
            <a:r>
              <a:rPr dirty="0">
                <a:latin typeface="Aptos"/>
              </a:rPr>
              <a:t>If a simple LLM-generated model can match or beat CENTAUR, it means the model predicts well and also gives a readable cognitive mechanism.</a:t>
            </a:r>
          </a:p>
        </p:txBody>
      </p:sp>
      <p:sp>
        <p:nvSpPr>
          <p:cNvPr id="14" name="Shape 12"/>
          <p:cNvSpPr/>
          <p:nvPr/>
        </p:nvSpPr>
        <p:spPr>
          <a:xfrm>
            <a:off x="1051560" y="5577840"/>
            <a:ext cx="9966960" cy="502920"/>
          </a:xfrm>
          <a:prstGeom prst="roundRect">
            <a:avLst>
              <a:gd name="adj" fmla="val 10909"/>
            </a:avLst>
          </a:prstGeom>
          <a:solidFill>
            <a:srgbClr val="FFF8E8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88720" y="571500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>
                <a:latin typeface="Aptos"/>
              </a:rPr>
              <a:t>One sentence: GeCCo captures much of the explainable variation in human behavior while keeping the model interpretable.</a:t>
            </a:r>
          </a:p>
        </p:txBody>
      </p:sp>
      <p:sp>
        <p:nvSpPr>
          <p:cNvPr id="16" name="Text 14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Control · Table 1 on page 8</a:t>
            </a:r>
          </a:p>
        </p:txBody>
      </p:sp>
      <p:sp>
        <p:nvSpPr>
          <p:cNvPr id="17" name="Text 15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MECHANISM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Does iteration really help?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BIC decreases across iterations, which means the feedback loop improves the models.</a:t>
            </a:r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57150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/mnt/data/gecco_assets/fig11_it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442466"/>
            <a:ext cx="5568696" cy="27843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23760" y="1188720"/>
            <a:ext cx="40233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5438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 dirty="0">
                <a:solidFill>
                  <a:schemeClr val="accent2">
                    <a:lumMod val="50000"/>
                  </a:schemeClr>
                </a:solidFill>
                <a:latin typeface="Aptos"/>
              </a:rPr>
              <a:t>How to read it</a:t>
            </a:r>
          </a:p>
        </p:txBody>
      </p:sp>
      <p:sp>
        <p:nvSpPr>
          <p:cNvPr id="12" name="Text 9"/>
          <p:cNvSpPr/>
          <p:nvPr/>
        </p:nvSpPr>
        <p:spPr>
          <a:xfrm>
            <a:off x="7543800" y="2057400"/>
            <a:ext cx="32461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r>
              <a:rPr>
                <a:latin typeface="Aptos"/>
              </a:rPr>
              <a:t>• x-axis: sampling iteration.</a:t>
            </a:r>
          </a:p>
          <a:p>
            <a:r>
              <a:rPr>
                <a:latin typeface="Aptos"/>
              </a:rPr>
              <a:t>• y-axis: minimum BIC.</a:t>
            </a:r>
          </a:p>
          <a:p>
            <a:r>
              <a:rPr>
                <a:latin typeface="Aptos"/>
              </a:rPr>
              <a:t>• Later iterations have lower BIC, meaning better models.</a:t>
            </a:r>
          </a:p>
          <a:p>
            <a:r>
              <a:rPr>
                <a:latin typeface="Aptos"/>
              </a:rPr>
              <a:t>• This supports the claim that feedback is a key driver.</a:t>
            </a:r>
          </a:p>
        </p:txBody>
      </p:sp>
      <p:sp>
        <p:nvSpPr>
          <p:cNvPr id="13" name="Text 10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Mechanism · Figure 11 on page 25</a:t>
            </a:r>
          </a:p>
        </p:txBody>
      </p:sp>
      <p:sp>
        <p:nvSpPr>
          <p:cNvPr id="14" name="Text 11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84C77"/>
                </a:solidFill>
                <a:latin typeface="Aptos"/>
              </a:rPr>
              <a:t>DISCUSSION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045" y="525086"/>
            <a:ext cx="8135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Main conclusion: what does </a:t>
            </a:r>
            <a:r>
              <a:rPr sz="2800" b="1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GeCCo</a:t>
            </a:r>
            <a:r>
              <a:rPr sz="28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show?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033271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ptos"/>
              </a:rPr>
              <a:t>LLMs can quickly generate interpretable cognitive models that compete with literature models.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691640"/>
            <a:ext cx="9784080" cy="5943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1856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1721503"/>
            <a:ext cx="2468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It works across four domains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18470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ptos"/>
              </a:rPr>
              <a:t>Decision making, learning, planning, and memory.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441448"/>
            <a:ext cx="9784080" cy="5943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" y="26060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2480338"/>
            <a:ext cx="2468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The models are not black boxes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9689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ptos"/>
              </a:rPr>
              <a:t>The output is Python functions with parameters, mechanisms, and interpretable assumptions.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191256"/>
            <a:ext cx="9784080" cy="5943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33558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300984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The loop is data-driven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34670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ptos"/>
              </a:rPr>
              <a:t>The LLM proposes candidates, but held-out data and BIC decide which models survive.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941063"/>
            <a:ext cx="9784080" cy="5943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410565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3968495"/>
            <a:ext cx="2468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ptos"/>
              </a:rPr>
              <a:t>The models can inspire new theory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096511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ptos"/>
              </a:rPr>
              <a:t>Some LLM-generated mechanisms challenge classic interpretations, such as MB/MF splitting or where load effects occur.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" y="4910327"/>
            <a:ext cx="9144000" cy="50292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25880" y="49444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4C77"/>
                </a:solidFill>
                <a:latin typeface="Aptos"/>
              </a:rPr>
              <a:t>Key message: LLMs can act as proposal engines for scientific models, while data-driven evaluation keeps the process grounded.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3550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82A0"/>
                </a:solidFill>
                <a:latin typeface="Aptos"/>
              </a:rPr>
              <a:t>DISCUSSION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6355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88CA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STRENGTHS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What makes this paper strong?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It combines LLM generation with traditional model fitting instead of simply asking AI to “guess.”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00B0F0"/>
                </a:solidFill>
                <a:latin typeface="Aptos"/>
              </a:rPr>
              <a:t>Open-source LLMs</a:t>
            </a:r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23317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r>
              <a:rPr>
                <a:latin typeface="Aptos"/>
              </a:rPr>
              <a:t>The paper uses models such as Llama, Qwen, and R1, which lowers the reproducibility barrier.</a:t>
            </a:r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00B0F0"/>
                </a:solidFill>
                <a:latin typeface="Aptos"/>
              </a:rPr>
              <a:t>No fine-tuning</a:t>
            </a:r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3317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latin typeface="Aptos"/>
              </a:rPr>
              <a:t>All experiments are in-context, so no model retraining is needed.</a:t>
            </a:r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7532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00B0F0"/>
                </a:solidFill>
                <a:latin typeface="Aptos"/>
              </a:rPr>
              <a:t>Hybrid loop</a:t>
            </a:r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23317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latin typeface="Aptos"/>
              </a:rPr>
              <a:t>The LLM generates candidates; the optimizer and BIC select the best ones.</a:t>
            </a:r>
          </a:p>
        </p:txBody>
      </p:sp>
      <p:sp>
        <p:nvSpPr>
          <p:cNvPr id="17" name="Shape 15"/>
          <p:cNvSpPr/>
          <p:nvPr/>
        </p:nvSpPr>
        <p:spPr>
          <a:xfrm>
            <a:off x="960120" y="4983480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4F9FF"/>
          </a:solidFill>
          <a:ln w="10160">
            <a:solidFill>
              <a:srgbClr val="BBD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97280" y="51206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>
                <a:latin typeface="Aptos"/>
              </a:rPr>
              <a:t>The most important design idea: do not let the LLM be the judge. Let the LLM propose models, and let data plus statistics decide which model is better.</a:t>
            </a:r>
          </a:p>
        </p:txBody>
      </p:sp>
      <p:sp>
        <p:nvSpPr>
          <p:cNvPr id="19" name="Text 17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LIMITATIONS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Limitations: what is still not solved?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The results are strong, but the method is not universal yet.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FFC000"/>
                </a:solidFill>
                <a:latin typeface="Aptos"/>
              </a:rPr>
              <a:t>Limited domains</a:t>
            </a:r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r>
              <a:rPr>
                <a:latin typeface="Aptos"/>
              </a:rPr>
              <a:t>Only four cognitive domains are tested, so this does not cover all cognitive modeling.</a:t>
            </a:r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09160" y="1600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FFC000"/>
                </a:solidFill>
                <a:latin typeface="Aptos"/>
              </a:rPr>
              <a:t>Prompt sensitivity</a:t>
            </a:r>
          </a:p>
        </p:txBody>
      </p:sp>
      <p:sp>
        <p:nvSpPr>
          <p:cNvPr id="13" name="Text 11"/>
          <p:cNvSpPr/>
          <p:nvPr/>
        </p:nvSpPr>
        <p:spPr>
          <a:xfrm>
            <a:off x="4754880" y="2075688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r>
              <a:rPr>
                <a:latin typeface="Aptos"/>
              </a:rPr>
              <a:t>Different prompts may generate different models, so standardization and reproducibility matter.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58200" y="1600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FFC000"/>
                </a:solidFill>
                <a:latin typeface="Aptos"/>
              </a:rPr>
              <a:t>Template dependence</a:t>
            </a:r>
          </a:p>
        </p:txBody>
      </p:sp>
      <p:sp>
        <p:nvSpPr>
          <p:cNvPr id="16" name="Text 14"/>
          <p:cNvSpPr/>
          <p:nvPr/>
        </p:nvSpPr>
        <p:spPr>
          <a:xfrm>
            <a:off x="8503920" y="2075688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>
                <a:latin typeface="Aptos"/>
              </a:rPr>
              <a:t>The template has the smallest effect, but it can still guide the model space.</a:t>
            </a:r>
          </a:p>
        </p:txBody>
      </p:sp>
      <p:sp>
        <p:nvSpPr>
          <p:cNvPr id="17" name="Shape 15"/>
          <p:cNvSpPr/>
          <p:nvPr/>
        </p:nvSpPr>
        <p:spPr>
          <a:xfrm>
            <a:off x="2606040" y="397764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834640" y="4251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FFC000"/>
                </a:solidFill>
                <a:latin typeface="Aptos"/>
              </a:rPr>
              <a:t>High-dimensional data is harder</a:t>
            </a:r>
          </a:p>
        </p:txBody>
      </p:sp>
      <p:sp>
        <p:nvSpPr>
          <p:cNvPr id="19" name="Text 17"/>
          <p:cNvSpPr/>
          <p:nvPr/>
        </p:nvSpPr>
        <p:spPr>
          <a:xfrm>
            <a:off x="2880360" y="4862293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r>
              <a:rPr dirty="0">
                <a:latin typeface="Aptos"/>
              </a:rPr>
              <a:t>Vision, language, and richer real-world behavior may require more complex models.</a:t>
            </a:r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83680" y="4251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FFC000"/>
                </a:solidFill>
                <a:latin typeface="Aptos"/>
              </a:rPr>
              <a:t>Human oversight is still needed</a:t>
            </a:r>
          </a:p>
        </p:txBody>
      </p:sp>
      <p:sp>
        <p:nvSpPr>
          <p:cNvPr id="22" name="Text 20"/>
          <p:cNvSpPr/>
          <p:nvPr/>
        </p:nvSpPr>
        <p:spPr>
          <a:xfrm>
            <a:off x="6629400" y="4892040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r>
              <a:rPr dirty="0">
                <a:latin typeface="Aptos"/>
              </a:rPr>
              <a:t>Generated code and mechanisms need to be checked for plausibility and bugs.</a:t>
            </a:r>
          </a:p>
        </p:txBody>
      </p:sp>
      <p:sp>
        <p:nvSpPr>
          <p:cNvPr id="23" name="Text 21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HOW TO READ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Three things that make this paper hard to read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Do not be scared by the formulas. First understand the structure.</a:t>
            </a:r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BIC</a:t>
            </a:r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2514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>
                <a:latin typeface="Aptos"/>
              </a:rPr>
              <a:t>Not an absolute score. It is for relative comparison. Lower BIC means a better balance between fit and simplicity.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FFF9F0"/>
          </a:solidFill>
          <a:ln w="10160">
            <a:solidFill>
              <a:srgbClr val="F4D9A8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 err="1">
                <a:solidFill>
                  <a:srgbClr val="FFC000"/>
                </a:solidFill>
                <a:latin typeface="Aptos"/>
              </a:rPr>
              <a:t>Softmax</a:t>
            </a:r>
            <a:r>
              <a:rPr b="1" dirty="0">
                <a:solidFill>
                  <a:srgbClr val="FFC000"/>
                </a:solidFill>
                <a:latin typeface="Aptos"/>
              </a:rPr>
              <a:t> / temperature</a:t>
            </a:r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2514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>
                <a:latin typeface="Aptos"/>
              </a:rPr>
              <a:t>Turns values into choice probabilities. Temperature or inverse temperature controls how deterministic the choices are.</a:t>
            </a:r>
          </a:p>
        </p:txBody>
      </p:sp>
      <p:sp>
        <p:nvSpPr>
          <p:cNvPr id="14" name="Shape 12"/>
          <p:cNvSpPr/>
          <p:nvPr/>
        </p:nvSpPr>
        <p:spPr>
          <a:xfrm>
            <a:off x="8321040" y="141732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F7FBFF"/>
          </a:solidFill>
          <a:ln w="10160">
            <a:solidFill>
              <a:srgbClr val="BBD7F2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4964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Posterior predictive check</a:t>
            </a:r>
          </a:p>
        </p:txBody>
      </p:sp>
      <p:sp>
        <p:nvSpPr>
          <p:cNvPr id="16" name="Text 14"/>
          <p:cNvSpPr/>
          <p:nvPr/>
        </p:nvSpPr>
        <p:spPr>
          <a:xfrm>
            <a:off x="8595360" y="2423160"/>
            <a:ext cx="2514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>
                <a:latin typeface="Aptos"/>
              </a:rPr>
              <a:t>Not another fitting step. The model generates behavior, and we check whether that behavior looks human-like.</a:t>
            </a:r>
          </a:p>
        </p:txBody>
      </p:sp>
      <p:sp>
        <p:nvSpPr>
          <p:cNvPr id="17" name="Text 15"/>
          <p:cNvSpPr/>
          <p:nvPr/>
        </p:nvSpPr>
        <p:spPr>
          <a:xfrm>
            <a:off x="1005840" y="56235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latin typeface="Aptos"/>
              </a:rPr>
              <a:t>Suggested reading order: task → baseline → what mechanism the LLM model adds → BIC/PPC results.</a:t>
            </a:r>
          </a:p>
        </p:txBody>
      </p:sp>
      <p:sp>
        <p:nvSpPr>
          <p:cNvPr id="18" name="Text 16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" y="0"/>
            <a:ext cx="12081967" cy="10972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6355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REFERENCES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References used in this learning deck</a:t>
            </a:r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Mainly based on Rmus et al. 2025.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074420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blurRad="12700" dist="50800" dir="2700000" algn="bl" rotWithShape="0">
              <a:srgbClr val="D0D8E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1001268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>
                <a:latin typeface="Aptos"/>
              </a:rPr>
              <a:t>• Rmus, M., Jagadish, A. K., Mathony, M., Ludwig, T., &amp; Schulz, E. (2025). Generating Computational Cognitive Models using Large Language Models.</a:t>
            </a:r>
          </a:p>
          <a:p>
            <a:r>
              <a:rPr>
                <a:latin typeface="Aptos"/>
              </a:rPr>
              <a:t>• Hilbig &amp; Moshagen (2014): multi-attribute decision-making baseline.</a:t>
            </a:r>
          </a:p>
          <a:p>
            <a:r>
              <a:rPr>
                <a:latin typeface="Aptos"/>
              </a:rPr>
              <a:t>• Chambon et al. (2020): learning / two-armed bandit data.</a:t>
            </a:r>
          </a:p>
          <a:p>
            <a:r>
              <a:rPr>
                <a:latin typeface="Aptos"/>
              </a:rPr>
              <a:t>• Feher da Silva &amp; Hare (2020): two-step planning data.</a:t>
            </a:r>
          </a:p>
          <a:p>
            <a:r>
              <a:rPr>
                <a:latin typeface="Aptos"/>
              </a:rPr>
              <a:t>• Rmus et al. (2023): RL-WM / working memory data.</a:t>
            </a:r>
          </a:p>
          <a:p>
            <a:r>
              <a:rPr>
                <a:latin typeface="Aptos"/>
              </a:rPr>
              <a:t>• Binz et al. (2024): CENTAUR, a foundation model of human cognition.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Suggested learning order: Abstract + Figure 1 first, then the four experiments, and finally the control experiments and limitations.</a:t>
            </a:r>
          </a:p>
        </p:txBody>
      </p:sp>
      <p:sp>
        <p:nvSpPr>
          <p:cNvPr id="11" name="Text 9"/>
          <p:cNvSpPr/>
          <p:nvPr/>
        </p:nvSpPr>
        <p:spPr>
          <a:xfrm>
            <a:off x="7772400" y="6446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7572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3026</Words>
  <Application>Microsoft Macintosh PowerPoint</Application>
  <PresentationFormat>宽屏</PresentationFormat>
  <Paragraphs>396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Microsoft YaHei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Computational Cognitive Models using Large Language Models 学习版</dc:title>
  <dc:subject>GeCCo paper learning deck</dc:subject>
  <dc:creator>OpenAI</dc:creator>
  <cp:lastModifiedBy>映竹 陈</cp:lastModifiedBy>
  <cp:revision>6</cp:revision>
  <dcterms:created xsi:type="dcterms:W3CDTF">2026-05-20T15:00:45Z</dcterms:created>
  <dcterms:modified xsi:type="dcterms:W3CDTF">2026-05-21T21:42:57Z</dcterms:modified>
</cp:coreProperties>
</file>