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7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22"/>
    <p:sldId id="272" r:id="rId23"/>
    <p:sldId id="273" r:id="rId2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0376"/>
    <p:restoredTop sz="94610"/>
  </p:normalViewPr>
  <p:slideViewPr>
    <p:cSldViewPr snapToGrid="0" snapToObjects="1">
      <p:cViewPr varScale="1">
        <p:scale>
          <a:sx n="94" d="100"/>
          <a:sy n="94" d="100"/>
        </p:scale>
        <p:origin x="208" y="5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notesMaster" Target="notesMasters/notesMaster1.xml"/><Relationship Id="rId18" Type="http://schemas.openxmlformats.org/officeDocument/2006/relationships/presProps" Target="presProps.xml"/><Relationship Id="rId19" Type="http://schemas.openxmlformats.org/officeDocument/2006/relationships/viewProps" Target="viewProps.xml"/><Relationship Id="rId20" Type="http://schemas.openxmlformats.org/officeDocument/2006/relationships/theme" Target="theme/theme1.xml"/><Relationship Id="rId21" Type="http://schemas.openxmlformats.org/officeDocument/2006/relationships/tableStyles" Target="tableStyles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746478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开场提示：不要说这是完整 summary，而是 argument-driven reading。</a:t>
            </a:r>
          </a:p>
          <a:p>
            <a:r>
              <a:rPr lang="zh-CN"/>
              <a:t>核心句：GeCCo can speed up cognitive model discovery, but better fit is not automatically better explanation.</a:t>
            </a:r>
          </a:p>
          <a:p>
            <a:r>
              <a:rPr lang="zh-CN"/>
              <a:t>过渡：To understand why this matters, we first need to see why cognitive modeling is difficult.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讲法提示：这里讲 motivation，不要讲技术。</a:t>
            </a:r>
          </a:p>
          <a:p>
            <a:r>
              <a:rPr lang="zh-CN"/>
              <a:t>传统 cognitive modeling 很慢：理论要变成代码，再 fit data，再修改。</a:t>
            </a:r>
          </a:p>
          <a:p>
            <a:r>
              <a:rPr lang="zh-CN"/>
              <a:t>重点：瓶颈不只是速度，而是 model space 会受研究者已有知识限制。</a:t>
            </a:r>
          </a:p>
          <a:p>
            <a:r>
              <a:rPr lang="zh-CN"/>
              <a:t>过渡：So what exactly counts as a cognitive model in this paper?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讲法提示：慢一点，听众可能不熟 cognitive modeling。</a:t>
            </a:r>
          </a:p>
          <a:p>
            <a:r>
              <a:rPr lang="zh-CN"/>
              <a:t>用一句话解释：a cognitive model is a psychological theory translated into code that predicts behavior.</a:t>
            </a:r>
          </a:p>
          <a:p>
            <a:r>
              <a:rPr lang="zh-CN"/>
              <a:t>强调：不同心理机制可能产生相似行为，所以需要比较模型。</a:t>
            </a:r>
          </a:p>
          <a:p>
            <a:r>
              <a:rPr lang="zh-CN"/>
              <a:t>过渡：GeCCo tries to automate part of this model-building process.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讲法提示：这是核心方法页，要讲清楚 loop。</a:t>
            </a:r>
          </a:p>
          <a:p>
            <a:r>
              <a:rPr lang="zh-CN"/>
              <a:t>LLM does not replace evaluation: it proposes model code.</a:t>
            </a:r>
          </a:p>
          <a:p>
            <a:r>
              <a:rPr lang="zh-CN"/>
              <a:t>Data and BIC select among generated candidates, then feedback guides the next iteration.</a:t>
            </a:r>
          </a:p>
          <a:p>
            <a:r>
              <a:rPr lang="zh-CN"/>
              <a:t>关键词：guided code generation, not one-shot prompting.</a:t>
            </a:r>
          </a:p>
          <a:p>
            <a:r>
              <a:rPr lang="zh-CN"/>
              <a:t>过渡：The prompt itself is therefore part of the experimental setup.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讲法提示：不要逐项解释太久。</a:t>
            </a:r>
          </a:p>
          <a:p>
            <a:r>
              <a:rPr lang="zh-CN"/>
              <a:t>核心点：prompting is not just asking ChatGPT; it constrains the search space.</a:t>
            </a:r>
          </a:p>
          <a:p>
            <a:r>
              <a:rPr lang="zh-CN"/>
              <a:t>好处：outputs become executable and comparable.</a:t>
            </a:r>
          </a:p>
          <a:p>
            <a:r>
              <a:rPr lang="zh-CN"/>
              <a:t>代价：more constraints may reduce creativity and introduce template bias.</a:t>
            </a:r>
          </a:p>
          <a:p>
            <a:r>
              <a:rPr lang="zh-CN"/>
              <a:t>过渡：Once models are generated, how does the paper decide which one is better?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讲法提示：只讲直觉，不讲公式。</a:t>
            </a:r>
          </a:p>
          <a:p>
            <a:r>
              <a:rPr lang="zh-CN"/>
              <a:t>NLL: how surprised the model is by observed choices; lower is better.</a:t>
            </a:r>
          </a:p>
          <a:p>
            <a:r>
              <a:rPr lang="zh-CN"/>
              <a:t>BIC: good fit plus penalty for extra parameters; lower is better for comparison.</a:t>
            </a:r>
          </a:p>
          <a:p>
            <a:r>
              <a:rPr lang="zh-CN"/>
              <a:t>PPC: whether simulated behavior looks human-like.</a:t>
            </a:r>
          </a:p>
          <a:p>
            <a:r>
              <a:rPr lang="zh-CN"/>
              <a:t>强调：these are comparison tools, not proof of psychological truth. Formula details are backup.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讲法提示：这是 breadth overview，不要四个都深入。</a:t>
            </a:r>
          </a:p>
          <a:p>
            <a:r>
              <a:rPr lang="zh-CN"/>
              <a:t>一句话：GeCCo was tested across decision making, learning, planning, and working memory.</a:t>
            </a:r>
          </a:p>
          <a:p>
            <a:r>
              <a:rPr lang="zh-CN"/>
              <a:t>核心结果：LLM-generated models matched or outperformed literature baselines across domains.</a:t>
            </a:r>
          </a:p>
          <a:p>
            <a:r>
              <a:rPr lang="zh-CN"/>
              <a:t>过渡：I will use decision making and learning as representative examples, then summarize the others briefly.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讲法提示：这是代表性实验之一。</a:t>
            </a:r>
          </a:p>
          <a:p>
            <a:r>
              <a:rPr lang="zh-CN"/>
              <a:t>不要讲代码细节。讲 scientific insight：a simple discount factor can connect several classic heuristics.</a:t>
            </a:r>
          </a:p>
          <a:p>
            <a:r>
              <a:rPr lang="zh-CN"/>
              <a:t>为什么重要：GeCCo did not only find a better-fitting model; it found a more parsimonious way to describe strategies.</a:t>
            </a:r>
          </a:p>
          <a:p>
            <a:r>
              <a:rPr lang="zh-CN"/>
              <a:t>小心表达：BIC favors this partly because it penalizes unnecessary parameters.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讲法提示：用直观语言讲 chosen vs forgone。</a:t>
            </a:r>
          </a:p>
          <a:p>
            <a:r>
              <a:rPr lang="zh-CN"/>
              <a:t>Full feedback means participants see not only what they chose, but also what they missed.</a:t>
            </a:r>
          </a:p>
          <a:p>
            <a:r>
              <a:rPr lang="zh-CN"/>
              <a:t>LLM model separates experienced value and fictive/counterfactual value, plus forgetting.</a:t>
            </a:r>
          </a:p>
          <a:p>
            <a:r>
              <a:rPr lang="zh-CN"/>
              <a:t>核心：this becomes a psychological hypothesis, not just a numerical improvement.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讲法提示：高层概述，不要深挖 planning / working memory 细节。</a:t>
            </a:r>
          </a:p>
          <a:p>
            <a:r>
              <a:rPr lang="zh-CN"/>
              <a:t>Planning takeaway：transition learning can mimic model-based-looking behavior.</a:t>
            </a:r>
          </a:p>
          <a:p>
            <a:r>
              <a:rPr lang="zh-CN"/>
              <a:t>Working memory takeaway：load may slow RL learning, not only reduce WM contribution.</a:t>
            </a:r>
          </a:p>
          <a:p>
            <a:r>
              <a:rPr lang="zh-CN"/>
              <a:t>核心：GeCCo can generate alternative explanations, but these still require human interpretation.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讲法提示：这是 control 的核心，讲短但要强调。</a:t>
            </a:r>
          </a:p>
          <a:p>
            <a:r>
              <a:rPr lang="zh-CN"/>
              <a:t>如果没有 feedback loop，BIC 变差；更多 iterations 通常改善 BIC。</a:t>
            </a:r>
          </a:p>
          <a:p>
            <a:r>
              <a:rPr lang="zh-CN"/>
              <a:t>结论：GeCCo works through iterative search and selection, not because the LLM magically knows the answer.</a:t>
            </a:r>
          </a:p>
          <a:p>
            <a:r>
              <a:rPr lang="zh-CN"/>
              <a:t>过渡：The authors also check whether this is just memorization or luck.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讲法提示：保持 balanced。</a:t>
            </a:r>
          </a:p>
          <a:p>
            <a:r>
              <a:rPr lang="zh-CN"/>
              <a:t>Data contamination check weakens the memorization explanation.</a:t>
            </a:r>
          </a:p>
          <a:p>
            <a:r>
              <a:rPr lang="zh-CN"/>
              <a:t>Synthetic data shows GeCCo can recover known mechanisms in controlled settings.</a:t>
            </a:r>
          </a:p>
          <a:p>
            <a:r>
              <a:rPr lang="zh-CN"/>
              <a:t>但不要夸大：synthetic recovery is a sanity check, not proof that human behavior is fully captured.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讲法提示：这是你们的 critical lens，可以讲得有力一点。</a:t>
            </a:r>
          </a:p>
          <a:p>
            <a:r>
              <a:rPr lang="zh-CN"/>
              <a:t>核心句：better BIC does not automatically mean better cognitive theory.</a:t>
            </a:r>
          </a:p>
          <a:p>
            <a:r>
              <a:rPr lang="zh-CN"/>
              <a:t>LLM proposes, data selects, but humans still interpret.</a:t>
            </a:r>
          </a:p>
          <a:p>
            <a:r>
              <a:rPr lang="zh-CN"/>
              <a:t>重点：GeCCo is best understood as a proposal engine / hypothesis generator, not an automatic theory machine.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讲法提示：limitations 要 constructive，不要像在否定 paper。</a:t>
            </a:r>
          </a:p>
          <a:p>
            <a:r>
              <a:rPr lang="zh-CN"/>
              <a:t>Template bias：scaffold shapes what can be generated.</a:t>
            </a:r>
          </a:p>
          <a:p>
            <a:r>
              <a:rPr lang="zh-CN"/>
              <a:t>Prompt sensitivity：wording may change outputs.</a:t>
            </a:r>
          </a:p>
          <a:p>
            <a:r>
              <a:rPr lang="zh-CN"/>
              <a:t>Four lab tasks：scope is controlled, not naturalistic behavior.</a:t>
            </a:r>
          </a:p>
          <a:p>
            <a:r>
              <a:rPr lang="zh-CN"/>
              <a:t>Scaling：richer tasks need richer evaluation.</a:t>
            </a:r>
          </a:p>
          <a:p>
            <a:r>
              <a:rPr lang="zh-CN"/>
              <a:t>收束：the method expands search, but judgment remains human.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结束提示：简短收尾，不要突然停。</a:t>
            </a:r>
          </a:p>
          <a:p>
            <a:r>
              <a:rPr lang="zh-CN"/>
              <a:t>可以说：To conclude, GeCCo is exciting because it expands the search for cognitive models. But its outputs should be treated as candidate explanations that need evaluation and interpretation.</a:t>
            </a:r>
          </a:p>
          <a:p>
            <a:r>
              <a:rPr lang="zh-CN"/>
              <a:t>然后邀请问题：We are happy to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Backup slide：只有被问到指标细节时才用。</a:t>
            </a:r>
          </a:p>
          <a:p>
            <a:r>
              <a:rPr lang="zh-CN"/>
              <a:t>解释顺序：NLL predicts choices; BIC balances fit and complexity; PPC checks simulated behavior.</a:t>
            </a:r>
          </a:p>
          <a:p>
            <a:r>
              <a:rPr lang="zh-CN"/>
              <a:t>不要主动讲公式。重点仍然是：metrics compare models, they do not prove mechanisms.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Backup slide：只有有人问缩写时用。</a:t>
            </a:r>
          </a:p>
          <a:p>
            <a:r>
              <a:rPr lang="zh-CN"/>
              <a:t>快速解释需要的缩写，不要全部念。</a:t>
            </a:r>
          </a:p>
          <a:p>
            <a:r>
              <a:rPr lang="zh-CN"/>
              <a:t>如果被问 MB/MF：MB uses an internal model of transitions; MF learns cached action values.</a:t>
            </a:r>
          </a:p>
          <a:p>
            <a:r>
              <a:rPr lang="zh-CN"/>
              <a:t>如果被问 RL-WM：combines reinforcement learning and working memory components.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/>
              <a:t>Backup slide：如果有人问为什么不详细讲四个实验，用这页回答。</a:t>
            </a:r>
          </a:p>
          <a:p>
            <a:r>
              <a:rPr lang="zh-CN"/>
              <a:t>教授建议的原则：details matter only when they serve the claim.</a:t>
            </a:r>
          </a:p>
          <a:p>
            <a:r>
              <a:rPr lang="zh-CN"/>
              <a:t>正式演讲目标是 compact story，不是 technical reconstruction.</a:t>
            </a:r>
          </a:p>
          <a:p>
            <a:r>
              <a:rPr lang="zh-CN"/>
              <a:t>选择 1–2 个代表性案例深入，其余作为 breadth evidence.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4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5.png"/><Relationship Id="rId4" Type="http://schemas.openxmlformats.org/officeDocument/2006/relationships/image" Target="../media/image6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9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opening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66928" y="640080"/>
            <a:ext cx="5806440" cy="1005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3100" b="1" dirty="0">
                <a:solidFill>
                  <a:srgbClr val="16202A"/>
                </a:solidFill>
              </a:rPr>
              <a:t>Generating computational cognitive models using LLMs</a:t>
            </a: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594360" y="1783080"/>
            <a:ext cx="60350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607080"/>
                </a:solidFill>
              </a:rPr>
              <a:t>Seminar presentation · Yingzhu Chen &amp; Christian Block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670560" y="3484172"/>
            <a:ext cx="19202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B7F7A"/>
                </a:solidFill>
              </a:rPr>
              <a:t>Core message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0560" y="3684724"/>
            <a:ext cx="5486400" cy="10515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 fontScale="85000" lnSpcReduction="10000"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13A2F"/>
                </a:solidFill>
              </a:rPr>
              <a:t>LLMs can accelerate cognitive model discovery, but better fit is not automatically better cognitive explanation.</a:t>
            </a:r>
            <a:endParaRPr lang="en-US" sz="2400" dirty="0"/>
          </a:p>
        </p:txBody>
      </p:sp>
      <p:pic>
        <p:nvPicPr>
          <p:cNvPr id="8" name="Image 0" descr="/mnt/data/gecco_assets/fig1_pipelin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86600" y="1551721"/>
            <a:ext cx="4434840" cy="1605718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7086600" y="3913632"/>
            <a:ext cx="4434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07080"/>
                </a:solidFill>
              </a:rPr>
              <a:t>Rmus et al. (2025) · NeurIPS 2025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problem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Why cognitive modeling needs help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paper starts from a bottleneck in traditional model discovery.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1828800" cy="73152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Theory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154680" y="1828800"/>
            <a:ext cx="1828800" cy="731520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Code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5577840" y="1828800"/>
            <a:ext cx="1828800" cy="73152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Fit data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8001000" y="1828800"/>
            <a:ext cx="1828800" cy="731520"/>
          </a:xfrm>
          <a:prstGeom prst="rect">
            <a:avLst/>
          </a:prstGeom>
          <a:solidFill>
            <a:srgbClr val="F0E4E1"/>
          </a:solidFill>
          <a:ln w="12700">
            <a:solidFill>
              <a:srgbClr val="F0E4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16202A"/>
                </a:solidFill>
              </a:rPr>
              <a:t>Revise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2651760" y="2194560"/>
            <a:ext cx="41148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Shape 9"/>
          <p:cNvSpPr/>
          <p:nvPr/>
        </p:nvSpPr>
        <p:spPr>
          <a:xfrm>
            <a:off x="5074920" y="2194560"/>
            <a:ext cx="41148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Shape 10"/>
          <p:cNvSpPr/>
          <p:nvPr/>
        </p:nvSpPr>
        <p:spPr>
          <a:xfrm>
            <a:off x="7498080" y="2194560"/>
            <a:ext cx="41148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3" name="Text 11"/>
          <p:cNvSpPr/>
          <p:nvPr/>
        </p:nvSpPr>
        <p:spPr>
          <a:xfrm>
            <a:off x="77724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16202A"/>
                </a:solidFill>
              </a:rPr>
              <a:t>Traditional modeling is slow and expert-dependent.</a:t>
            </a:r>
            <a:endParaRPr lang="en-US" sz="2400" dirty="0"/>
          </a:p>
        </p:txBody>
      </p:sp>
      <p:sp>
        <p:nvSpPr>
          <p:cNvPr id="14" name="Text 12"/>
          <p:cNvSpPr/>
          <p:nvPr/>
        </p:nvSpPr>
        <p:spPr>
          <a:xfrm>
            <a:off x="804672" y="3886200"/>
            <a:ext cx="4297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07080"/>
                </a:solidFill>
              </a:rPr>
              <a:t>Researchers must read literature, formalize theory, implement code, fit models, and repeat.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6446520" y="3154680"/>
            <a:ext cx="4389120" cy="59436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2400" b="1" dirty="0">
                <a:solidFill>
                  <a:srgbClr val="A13A2F"/>
                </a:solidFill>
              </a:rPr>
              <a:t>The risk: a narrow model space.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6473952" y="3886200"/>
            <a:ext cx="429768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rPr lang="en-US" sz="1500" dirty="0">
                <a:solidFill>
                  <a:srgbClr val="607080"/>
                </a:solidFill>
              </a:rPr>
              <a:t>We may only test theories we already know how to write down.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concept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What is a computational cognitive model?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A psychological explanation written as equations or executable code.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828800"/>
            <a:ext cx="2743200" cy="100584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Psychological idea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"people learn from rewards"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4572000" y="1828800"/>
            <a:ext cx="265176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0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Executable model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Python function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8321040" y="1828800"/>
            <a:ext cx="2651760" cy="100584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Predictions</a:t>
            </a:r>
            <a:endParaRPr lang="en-US" sz="1600" dirty="0"/>
          </a:p>
          <a:p>
            <a:pPr marL="0" indent="0" algn="ctr">
              <a:buNone/>
            </a:pPr>
            <a:r>
              <a:rPr lang="en-US" sz="1600" b="1" dirty="0">
                <a:solidFill>
                  <a:srgbClr val="16202A"/>
                </a:solidFill>
              </a:rPr>
              <a:t>choice probabilities</a:t>
            </a:r>
            <a:endParaRPr lang="en-US" sz="1600" dirty="0"/>
          </a:p>
        </p:txBody>
      </p:sp>
      <p:sp>
        <p:nvSpPr>
          <p:cNvPr id="9" name="Shape 7"/>
          <p:cNvSpPr/>
          <p:nvPr/>
        </p:nvSpPr>
        <p:spPr>
          <a:xfrm>
            <a:off x="3611880" y="2331720"/>
            <a:ext cx="82296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Shape 8"/>
          <p:cNvSpPr/>
          <p:nvPr/>
        </p:nvSpPr>
        <p:spPr>
          <a:xfrm>
            <a:off x="7360920" y="2331720"/>
            <a:ext cx="822960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9"/>
          <p:cNvSpPr/>
          <p:nvPr/>
        </p:nvSpPr>
        <p:spPr>
          <a:xfrm>
            <a:off x="4160520" y="3291840"/>
            <a:ext cx="3931920" cy="1325880"/>
          </a:xfrm>
          <a:prstGeom prst="rect">
            <a:avLst/>
          </a:prstGeom>
          <a:solidFill>
            <a:srgbClr val="EFEFEF"/>
          </a:solidFill>
          <a:ln>
            <a:solidFill>
              <a:srgbClr val="D0D0D0"/>
            </a:solidFill>
          </a:ln>
        </p:spPr>
        <p:txBody>
          <a:bodyPr wrap="square" lIns="1778" tIns="1778" rIns="1778" bIns="1778" rtlCol="0" anchor="ctr">
            <a:normAutofit/>
          </a:bodyPr>
          <a:lstStyle/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def model(actions, rewards, params):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learning_rate, beta = params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...</a:t>
            </a:r>
            <a:endParaRPr lang="en-US" sz="1350" dirty="0"/>
          </a:p>
          <a:p>
            <a:pPr marL="0" indent="0">
              <a:buNone/>
            </a:pPr>
            <a:r>
              <a:rPr lang="en-US" sz="1350" dirty="0">
                <a:solidFill>
                  <a:srgbClr val="16202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    return -log_likelihood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143000" y="5257800"/>
            <a:ext cx="99669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300" b="1" dirty="0">
                <a:solidFill>
                  <a:srgbClr val="1B7F7A"/>
                </a:solidFill>
              </a:rPr>
              <a:t>Models are compared because different mechanisms can fit the same behavior.</a:t>
            </a:r>
            <a:endParaRPr lang="en-US" sz="2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GeCCo in one loop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LLM proposes; data evaluates; feedback improves the next proposal.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2331720" y="2103120"/>
            <a:ext cx="731520" cy="0"/>
          </a:xfrm>
          <a:prstGeom prst="line">
            <a:avLst/>
          </a:prstGeom>
          <a:noFill/>
          <a:ln w="2032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7" name="Shape 5"/>
          <p:cNvSpPr/>
          <p:nvPr/>
        </p:nvSpPr>
        <p:spPr>
          <a:xfrm>
            <a:off x="5074920" y="2103120"/>
            <a:ext cx="731520" cy="0"/>
          </a:xfrm>
          <a:prstGeom prst="line">
            <a:avLst/>
          </a:prstGeom>
          <a:noFill/>
          <a:ln w="2032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" name="Shape 6"/>
          <p:cNvSpPr/>
          <p:nvPr/>
        </p:nvSpPr>
        <p:spPr>
          <a:xfrm>
            <a:off x="7818120" y="2103120"/>
            <a:ext cx="731520" cy="0"/>
          </a:xfrm>
          <a:prstGeom prst="line">
            <a:avLst/>
          </a:prstGeom>
          <a:noFill/>
          <a:ln w="2032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594360" y="1554480"/>
            <a:ext cx="1737360" cy="109728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0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Prompt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task + data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3108960" y="1554480"/>
            <a:ext cx="1920240" cy="109728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LLM writes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3 model codes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5852160" y="1554480"/>
            <a:ext cx="1920240" cy="1097280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Fit on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held-out data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595360" y="1554480"/>
            <a:ext cx="1645920" cy="109728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Select by</a:t>
            </a:r>
            <a:endParaRPr lang="en-US" sz="1500" dirty="0"/>
          </a:p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BIC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569112" y="3520439"/>
            <a:ext cx="2103120" cy="822960"/>
          </a:xfrm>
          <a:prstGeom prst="rect">
            <a:avLst/>
          </a:prstGeom>
          <a:solidFill>
            <a:srgbClr val="F0E4E1"/>
          </a:solidFill>
          <a:ln w="12700">
            <a:solidFill>
              <a:srgbClr val="F0E4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13A2F"/>
                </a:solidFill>
              </a:rPr>
              <a:t>Feedback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A13A2F"/>
                </a:solidFill>
              </a:rPr>
              <a:t>best so far</a:t>
            </a:r>
            <a:endParaRPr lang="en-US" sz="1400" dirty="0"/>
          </a:p>
        </p:txBody>
      </p:sp>
      <p:sp>
        <p:nvSpPr>
          <p:cNvPr id="16" name="Text 13"/>
          <p:cNvSpPr/>
          <p:nvPr/>
        </p:nvSpPr>
        <p:spPr>
          <a:xfrm>
            <a:off x="594360" y="5486400"/>
            <a:ext cx="107899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13A2F"/>
                </a:solidFill>
              </a:rPr>
              <a:t>This is guided code generation, not one-shot prompting.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method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The prompt is part of the method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GeCCo constrains the LLM so outputs are executable and comparable.</a:t>
            </a:r>
            <a:endParaRPr lang="en-US" sz="1250" dirty="0"/>
          </a:p>
        </p:txBody>
      </p:sp>
      <p:pic>
        <p:nvPicPr>
          <p:cNvPr id="6" name="Image 0" descr="/mnt/data/gecco_assets/fig6_promp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3082" y="1234440"/>
            <a:ext cx="5277556" cy="4773168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720840" y="1325880"/>
            <a:ext cx="2743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A"/>
                </a:solidFill>
              </a:rPr>
              <a:t>PROMPT INGREDIENTS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720840" y="1737360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Text 6"/>
          <p:cNvSpPr/>
          <p:nvPr/>
        </p:nvSpPr>
        <p:spPr>
          <a:xfrm>
            <a:off x="7178040" y="1719072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Task description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7178040" y="2002536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What participants do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6720840" y="2487168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2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7178040" y="2468880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Behavioral data</a:t>
            </a:r>
            <a:endParaRPr lang="en-US" sz="1500" dirty="0"/>
          </a:p>
        </p:txBody>
      </p:sp>
      <p:sp>
        <p:nvSpPr>
          <p:cNvPr id="13" name="Text 10"/>
          <p:cNvSpPr/>
          <p:nvPr/>
        </p:nvSpPr>
        <p:spPr>
          <a:xfrm>
            <a:off x="7178040" y="2752344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Trial-by-trial examples</a:t>
            </a:r>
            <a:endParaRPr lang="en-US" sz="1150" dirty="0"/>
          </a:p>
        </p:txBody>
      </p:sp>
      <p:sp>
        <p:nvSpPr>
          <p:cNvPr id="14" name="Text 11"/>
          <p:cNvSpPr/>
          <p:nvPr/>
        </p:nvSpPr>
        <p:spPr>
          <a:xfrm>
            <a:off x="6720840" y="3236976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3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7178040" y="3218688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Guardrails</a:t>
            </a:r>
            <a:endParaRPr lang="en-US" sz="1500" dirty="0"/>
          </a:p>
        </p:txBody>
      </p:sp>
      <p:sp>
        <p:nvSpPr>
          <p:cNvPr id="16" name="Text 13"/>
          <p:cNvSpPr/>
          <p:nvPr/>
        </p:nvSpPr>
        <p:spPr>
          <a:xfrm>
            <a:off x="7178040" y="3502152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Function names, inputs, outputs</a:t>
            </a:r>
            <a:endParaRPr lang="en-US" sz="1150" dirty="0"/>
          </a:p>
        </p:txBody>
      </p:sp>
      <p:sp>
        <p:nvSpPr>
          <p:cNvPr id="17" name="Text 14"/>
          <p:cNvSpPr/>
          <p:nvPr/>
        </p:nvSpPr>
        <p:spPr>
          <a:xfrm>
            <a:off x="6720840" y="3986784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4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7178040" y="39684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Code template</a:t>
            </a:r>
            <a:endParaRPr lang="en-US" sz="1500" dirty="0"/>
          </a:p>
        </p:txBody>
      </p:sp>
      <p:sp>
        <p:nvSpPr>
          <p:cNvPr id="19" name="Text 16"/>
          <p:cNvSpPr/>
          <p:nvPr/>
        </p:nvSpPr>
        <p:spPr>
          <a:xfrm>
            <a:off x="7178040" y="4251960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Syntactic scaffold</a:t>
            </a:r>
            <a:endParaRPr lang="en-US" sz="1150" dirty="0"/>
          </a:p>
        </p:txBody>
      </p:sp>
      <p:sp>
        <p:nvSpPr>
          <p:cNvPr id="20" name="Text 17"/>
          <p:cNvSpPr/>
          <p:nvPr/>
        </p:nvSpPr>
        <p:spPr>
          <a:xfrm>
            <a:off x="6720840" y="4736592"/>
            <a:ext cx="329184" cy="329184"/>
          </a:xfrm>
          <a:prstGeom prst="rect">
            <a:avLst/>
          </a:prstGeom>
          <a:solidFill>
            <a:srgbClr val="1B7F7A"/>
          </a:solidFill>
          <a:ln>
            <a:solidFill>
              <a:srgbClr val="1B7F7A"/>
            </a:solidFill>
          </a:ln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5</a:t>
            </a:r>
            <a:endParaRPr lang="en-US" sz="1200" dirty="0"/>
          </a:p>
        </p:txBody>
      </p:sp>
      <p:sp>
        <p:nvSpPr>
          <p:cNvPr id="21" name="Text 18"/>
          <p:cNvSpPr/>
          <p:nvPr/>
        </p:nvSpPr>
        <p:spPr>
          <a:xfrm>
            <a:off x="7178040" y="4718304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6202A"/>
                </a:solidFill>
              </a:rPr>
              <a:t>Feedback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7178040" y="5001768"/>
            <a:ext cx="3566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607080"/>
                </a:solidFill>
              </a:rPr>
              <a:t>Best model so far</a:t>
            </a:r>
            <a:endParaRPr lang="en-US" sz="1150" dirty="0"/>
          </a:p>
        </p:txBody>
      </p:sp>
      <p:sp>
        <p:nvSpPr>
          <p:cNvPr id="23" name="Text 20"/>
          <p:cNvSpPr/>
          <p:nvPr/>
        </p:nvSpPr>
        <p:spPr>
          <a:xfrm>
            <a:off x="6720840" y="5513832"/>
            <a:ext cx="4572000" cy="5029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rPr lang="en-US" sz="1650" b="1" dirty="0">
                <a:solidFill>
                  <a:srgbClr val="A13A2F"/>
                </a:solidFill>
              </a:rPr>
              <a:t>Design choice: more control means less free-form creativity, but better reproducibility.</a:t>
            </a:r>
            <a:endParaRPr lang="en-US" sz="16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How does the paper decide a model is good?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Predictive evaluation, theoretical interpretation.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3200400" cy="1143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EE0E2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t>NLL</a:t>
            </a:r>
            <a:endParaRPr lang="en-US" sz="1400" dirty="0"/>
          </a:p>
          <a:p>
            <a:r>
              <a:t>How surprised is the model by real choices?</a:t>
            </a:r>
          </a:p>
        </p:txBody>
      </p:sp>
      <p:sp>
        <p:nvSpPr>
          <p:cNvPr id="7" name="Text 5"/>
          <p:cNvSpPr/>
          <p:nvPr/>
        </p:nvSpPr>
        <p:spPr>
          <a:xfrm>
            <a:off x="4434840" y="1508760"/>
            <a:ext cx="3200400" cy="114300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t>BIC</a:t>
            </a:r>
            <a:endParaRPr lang="en-US" sz="1400" dirty="0"/>
          </a:p>
          <a:p>
            <a:r>
              <a:t>Good fit, with a penalty for complexity.</a:t>
            </a:r>
          </a:p>
        </p:txBody>
      </p:sp>
      <p:sp>
        <p:nvSpPr>
          <p:cNvPr id="8" name="Text 6"/>
          <p:cNvSpPr/>
          <p:nvPr/>
        </p:nvSpPr>
        <p:spPr>
          <a:xfrm>
            <a:off x="8092440" y="1508760"/>
            <a:ext cx="3200400" cy="114300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t>PPC</a:t>
            </a:r>
            <a:endParaRPr lang="en-US" sz="1400" dirty="0"/>
          </a:p>
          <a:p>
            <a:r>
              <a:t>Can the fitted model simulate human-like behavior?</a:t>
            </a:r>
          </a:p>
        </p:txBody>
      </p:sp>
      <p:sp>
        <p:nvSpPr>
          <p:cNvPr id="9" name="Text 7"/>
          <p:cNvSpPr/>
          <p:nvPr/>
        </p:nvSpPr>
        <p:spPr>
          <a:xfrm>
            <a:off x="1143000" y="3657600"/>
            <a:ext cx="9875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Key point: lower BIC compares models; it does not prove psychological truth.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2331720" y="4754880"/>
            <a:ext cx="7498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t>Details and formulas → backup slides.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evidence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Evidence across four cognitive domains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paper tests whether GeCCo generalizes beyond one task.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3152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Decision making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1856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pWADD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297180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Llama/R1 lower BIC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731520" y="228600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0" name="Text 8"/>
          <p:cNvSpPr/>
          <p:nvPr/>
        </p:nvSpPr>
        <p:spPr>
          <a:xfrm>
            <a:off x="73152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Learning</a:t>
            </a:r>
            <a:endParaRPr lang="en-US" sz="2100" dirty="0"/>
          </a:p>
        </p:txBody>
      </p:sp>
      <p:sp>
        <p:nvSpPr>
          <p:cNvPr id="11" name="Text 9"/>
          <p:cNvSpPr/>
          <p:nvPr/>
        </p:nvSpPr>
        <p:spPr>
          <a:xfrm>
            <a:off x="731520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RW4α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297180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Llama favored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731520" y="429768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4" name="Text 12"/>
          <p:cNvSpPr/>
          <p:nvPr/>
        </p:nvSpPr>
        <p:spPr>
          <a:xfrm>
            <a:off x="6309360" y="141732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Planning</a:t>
            </a:r>
            <a:endParaRPr lang="en-US" sz="2100" dirty="0"/>
          </a:p>
        </p:txBody>
      </p:sp>
      <p:sp>
        <p:nvSpPr>
          <p:cNvPr id="15" name="Text 13"/>
          <p:cNvSpPr/>
          <p:nvPr/>
        </p:nvSpPr>
        <p:spPr>
          <a:xfrm>
            <a:off x="6309360" y="185623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Hybrid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549640" y="185623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R1 favored by EXP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228600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8" name="Text 16"/>
          <p:cNvSpPr/>
          <p:nvPr/>
        </p:nvSpPr>
        <p:spPr>
          <a:xfrm>
            <a:off x="6309360" y="34290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Working memory</a:t>
            </a:r>
            <a:endParaRPr lang="en-US" sz="2100" dirty="0"/>
          </a:p>
        </p:txBody>
      </p:sp>
      <p:sp>
        <p:nvSpPr>
          <p:cNvPr id="19" name="Text 17"/>
          <p:cNvSpPr/>
          <p:nvPr/>
        </p:nvSpPr>
        <p:spPr>
          <a:xfrm>
            <a:off x="6309360" y="3867912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607080"/>
                </a:solidFill>
              </a:rPr>
              <a:t>baseline: RL-WM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8549640" y="3867912"/>
            <a:ext cx="23774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B7F7A"/>
                </a:solidFill>
              </a:rPr>
              <a:t>Llama favored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6309360" y="4297680"/>
            <a:ext cx="4389120" cy="0"/>
          </a:xfrm>
          <a:prstGeom prst="line">
            <a:avLst/>
          </a:prstGeom>
          <a:noFill/>
          <a:ln w="12700">
            <a:solidFill>
              <a:srgbClr val="D8D1C6"/>
            </a:solidFill>
            <a:prstDash val="soli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2" name="Text 20"/>
          <p:cNvSpPr/>
          <p:nvPr/>
        </p:nvSpPr>
        <p:spPr>
          <a:xfrm>
            <a:off x="1005840" y="5623560"/>
            <a:ext cx="1024128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13A2F"/>
                </a:solidFill>
              </a:rPr>
              <a:t>Across all four: LLM-generated models matched or outperformed literature baselines.</a:t>
            </a:r>
            <a:endParaRPr lang="en-US" sz="2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experiment 1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Experiment 1: decision making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A representative case for parsimony.</a:t>
            </a:r>
            <a:endParaRPr lang="en-US" sz="1250" dirty="0"/>
          </a:p>
        </p:txBody>
      </p:sp>
      <p:pic>
        <p:nvPicPr>
          <p:cNvPr id="6" name="Image 0" descr="/mnt/data/gecco_assets/fig2_decis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0352" y="1874520"/>
            <a:ext cx="6492240" cy="197752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417320"/>
            <a:ext cx="2286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A"/>
                </a:solidFill>
              </a:rPr>
              <a:t>MAIN RESULT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43800" y="1755648"/>
            <a:ext cx="3886200" cy="960120"/>
          </a:xfrm>
          <a:prstGeom prst="rect">
            <a:avLst/>
          </a:prstGeom>
          <a:noFill/>
          <a:ln/>
        </p:spPr>
        <p:txBody>
          <a:bodyPr wrap="square" lIns="381" tIns="381" rIns="381" bIns="381" rtlCol="0" anchor="ctr">
            <a:normAutofit/>
          </a:bodyPr>
          <a:lstStyle/>
          <a:p>
            <a:pPr marL="0" indent="0">
              <a:buNone/>
            </a:pPr>
            <a:r>
              <a:t>One discount factor links several classic heuristics.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7543800" y="2907792"/>
            <a:ext cx="3840480" cy="12344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t>Compared with pWADD, the LLM model is simpler and more flexible across strategies.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22960" y="4983480"/>
            <a:ext cx="10515600" cy="502920"/>
          </a:xfrm>
          <a:prstGeom prst="rect">
            <a:avLst/>
          </a:prstGeom>
          <a:solidFill>
            <a:srgbClr val="F0E4E1"/>
          </a:solidFill>
          <a:ln>
            <a:solidFill>
              <a:srgbClr val="F0E4E1"/>
            </a:solidFill>
          </a:ln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Why it matters: BIC rewards fit, but also penalizes extra parameters.</a:t>
            </a:r>
            <a:endParaRPr lang="en-US" sz="2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experiment 2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Experiment 2: learning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Full feedback lets people learn from both outcomes and missed outcomes.</a:t>
            </a:r>
            <a:endParaRPr lang="en-US" sz="1250" dirty="0"/>
          </a:p>
        </p:txBody>
      </p:sp>
      <p:pic>
        <p:nvPicPr>
          <p:cNvPr id="6" name="Image 0" descr="/mnt/data/gecco_assets/fig3_lear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14141"/>
            <a:ext cx="6537960" cy="16157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543800" y="1371600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1B7F7A"/>
                </a:solidFill>
              </a:rPr>
              <a:t>LLM INSIGHT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7589520" y="1755648"/>
            <a:ext cx="3383280" cy="658368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chosen outcome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experienced value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589520" y="2697480"/>
            <a:ext cx="3383280" cy="658368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forgone outcome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fictive trace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7589520" y="3639312"/>
            <a:ext cx="3383280" cy="658368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forgetting</a:t>
            </a:r>
            <a:endParaRPr lang="en-US" sz="1400" dirty="0"/>
          </a:p>
          <a:p>
            <a:pPr marL="0" indent="0" algn="ctr">
              <a:buNone/>
            </a:pPr>
            <a:r>
              <a:rPr lang="en-US" sz="1400" b="1" dirty="0">
                <a:solidFill>
                  <a:srgbClr val="16202A"/>
                </a:solidFill>
              </a:rPr>
              <a:t>old values decay</a:t>
            </a:r>
            <a:endParaRPr lang="en-US" sz="1400" dirty="0"/>
          </a:p>
        </p:txBody>
      </p:sp>
      <p:sp>
        <p:nvSpPr>
          <p:cNvPr id="11" name="Text 8"/>
          <p:cNvSpPr/>
          <p:nvPr/>
        </p:nvSpPr>
        <p:spPr>
          <a:xfrm>
            <a:off x="1097280" y="5074920"/>
            <a:ext cx="996696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The model does not only fit better; it suggests a theory about counterfactual learning.</a:t>
            </a:r>
            <a:endParaRPr lang="en-US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experiments 3-4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9189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Two more cases: planning and working memory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Use these as high-level evidence, not technical deep dives.</a:t>
            </a:r>
            <a:endParaRPr lang="en-US" sz="1250" dirty="0"/>
          </a:p>
        </p:txBody>
      </p:sp>
      <p:pic>
        <p:nvPicPr>
          <p:cNvPr id="6" name="Image 0" descr="/mnt/data/gecco_assets/fig4_planning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465" y="1234440"/>
            <a:ext cx="5260750" cy="18745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3246120"/>
            <a:ext cx="201168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Planning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777240" y="3611880"/>
            <a:ext cx="493776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Transition learning can look model-based without explicitly splitting MB/MF systems.</a:t>
            </a:r>
            <a:endParaRPr lang="en-US" sz="1550" dirty="0"/>
          </a:p>
        </p:txBody>
      </p:sp>
      <p:pic>
        <p:nvPicPr>
          <p:cNvPr id="9" name="Image 1" descr="/mnt/data/gecco_assets/fig5_memor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0" y="1428224"/>
            <a:ext cx="5166360" cy="139551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583680" y="3246120"/>
            <a:ext cx="31089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Working memory</a:t>
            </a:r>
            <a:endParaRPr lang="en-US" sz="2100" dirty="0"/>
          </a:p>
        </p:txBody>
      </p:sp>
      <p:sp>
        <p:nvSpPr>
          <p:cNvPr id="11" name="Text 7"/>
          <p:cNvSpPr/>
          <p:nvPr/>
        </p:nvSpPr>
        <p:spPr>
          <a:xfrm>
            <a:off x="6583680" y="3611880"/>
            <a:ext cx="4754880" cy="82296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Cognitive load may slow RL learning, not only reduce working-memory weight.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914400" y="5212080"/>
            <a:ext cx="10332720" cy="41148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Takeaway: GeCCo generates alternative hypotheses, not just better predictions.</a:t>
            </a:r>
            <a:endParaRPr lang="en-US" sz="2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The feedback loop is the core mechanism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control experiments show that iteration matters.</a:t>
            </a:r>
            <a:endParaRPr lang="en-US" sz="1250" dirty="0"/>
          </a:p>
        </p:txBody>
      </p:sp>
      <p:pic>
        <p:nvPicPr>
          <p:cNvPr id="6" name="Image 0" descr="/mnt/data/gecco_assets/fig9_abl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" y="1476782"/>
            <a:ext cx="5212080" cy="2349955"/>
          </a:xfrm>
          <a:prstGeom prst="rect">
            <a:avLst/>
          </a:prstGeom>
        </p:spPr>
      </p:pic>
      <p:pic>
        <p:nvPicPr>
          <p:cNvPr id="7" name="Image 1" descr="/mnt/data/gecco_assets/fig11_iteration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09360" y="1450173"/>
            <a:ext cx="5212080" cy="2403175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822960" y="438912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Remove feedback -&gt; worse BIC</a:t>
            </a:r>
            <a:endParaRPr lang="en-US" sz="2000" dirty="0"/>
          </a:p>
        </p:txBody>
      </p:sp>
      <p:sp>
        <p:nvSpPr>
          <p:cNvPr id="9" name="Text 5"/>
          <p:cNvSpPr/>
          <p:nvPr/>
        </p:nvSpPr>
        <p:spPr>
          <a:xfrm>
            <a:off x="6583680" y="438912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B7F7A"/>
                </a:solidFill>
              </a:rPr>
              <a:t>More iterations -&gt; lower BIC</a:t>
            </a:r>
            <a:endParaRPr lang="en-US" sz="2000" dirty="0"/>
          </a:p>
        </p:txBody>
      </p:sp>
      <p:sp>
        <p:nvSpPr>
          <p:cNvPr id="10" name="Text 6"/>
          <p:cNvSpPr/>
          <p:nvPr/>
        </p:nvSpPr>
        <p:spPr>
          <a:xfrm>
            <a:off x="960120" y="5321808"/>
            <a:ext cx="1024128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16202A"/>
                </a:solidFill>
              </a:rPr>
              <a:t>Interpretation: GeCCo works because it creates a search-and-selection loop.</a:t>
            </a:r>
            <a:endParaRPr lang="en-US" sz="22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control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Robustness checks: not just memorization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607080"/>
                </a:solidFill>
              </a:rPr>
              <a:t>The authors test whether performance could come from leakage or luck.</a:t>
            </a:r>
            <a:endParaRPr lang="en-US" sz="1250" dirty="0"/>
          </a:p>
        </p:txBody>
      </p:sp>
      <p:pic>
        <p:nvPicPr>
          <p:cNvPr id="6" name="Image 0" descr="/mnt/data/gecco_assets/fig10_contamina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1343222"/>
            <a:ext cx="5212080" cy="110831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788920"/>
            <a:ext cx="3291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100" b="1" dirty="0">
                <a:solidFill>
                  <a:srgbClr val="16202A"/>
                </a:solidFill>
              </a:rPr>
              <a:t>Data contamination</a:t>
            </a:r>
            <a:endParaRPr lang="en-US" sz="2100" dirty="0"/>
          </a:p>
        </p:txBody>
      </p:sp>
      <p:sp>
        <p:nvSpPr>
          <p:cNvPr id="8" name="Text 5"/>
          <p:cNvSpPr/>
          <p:nvPr/>
        </p:nvSpPr>
        <p:spPr>
          <a:xfrm>
            <a:off x="822960" y="3182112"/>
            <a:ext cx="475488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1550" dirty="0">
                <a:solidFill>
                  <a:srgbClr val="607080"/>
                </a:solidFill>
              </a:rPr>
              <a:t>LogProber scores stay below the contamination threshold. This weakens the memorization explanation.</a:t>
            </a:r>
            <a:endParaRPr lang="en-US" sz="1550" dirty="0"/>
          </a:p>
        </p:txBody>
      </p:sp>
      <p:sp>
        <p:nvSpPr>
          <p:cNvPr id="9" name="Text 6"/>
          <p:cNvSpPr/>
          <p:nvPr/>
        </p:nvSpPr>
        <p:spPr>
          <a:xfrm>
            <a:off x="6537960" y="1325880"/>
            <a:ext cx="4023360" cy="91440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Synthetic data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known ground truth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8549640" y="2286000"/>
            <a:ext cx="0" cy="64008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1" name="Text 8"/>
          <p:cNvSpPr/>
          <p:nvPr/>
        </p:nvSpPr>
        <p:spPr>
          <a:xfrm>
            <a:off x="6537960" y="2971800"/>
            <a:ext cx="4023360" cy="914400"/>
          </a:xfrm>
          <a:prstGeom prst="rect">
            <a:avLst/>
          </a:prstGeom>
          <a:solidFill>
            <a:srgbClr val="FFF1DC"/>
          </a:solidFill>
          <a:ln w="12700">
            <a:solidFill>
              <a:srgbClr val="FFF1DC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GeCCo recovers</a:t>
            </a:r>
            <a:endParaRPr lang="en-US" sz="1700" dirty="0"/>
          </a:p>
          <a:p>
            <a:pPr marL="0" indent="0" algn="ctr">
              <a:buNone/>
            </a:pPr>
            <a:r>
              <a:rPr lang="en-US" sz="1700" b="1" dirty="0">
                <a:solidFill>
                  <a:srgbClr val="16202A"/>
                </a:solidFill>
              </a:rPr>
              <a:t>key mechanisms</a:t>
            </a:r>
            <a:endParaRPr lang="en-US" sz="1700" dirty="0"/>
          </a:p>
        </p:txBody>
      </p:sp>
      <p:sp>
        <p:nvSpPr>
          <p:cNvPr id="12" name="Text 9"/>
          <p:cNvSpPr/>
          <p:nvPr/>
        </p:nvSpPr>
        <p:spPr>
          <a:xfrm>
            <a:off x="914400" y="5257800"/>
            <a:ext cx="10332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A13A2F"/>
                </a:solidFill>
              </a:rPr>
              <a:t>But: synthetic success is a sanity check, not proof that all human behavior is captured.</a:t>
            </a:r>
            <a:endParaRPr lang="en-US" sz="20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critical evaluation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19" y="310896"/>
            <a:ext cx="9473593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Critical question: model fit or cognitive explanation?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The main claim needs interpretation, not just scores.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914400" y="1417320"/>
            <a:ext cx="5303520" cy="7315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rPr lang="en-US" sz="2800" b="1" dirty="0">
                <a:solidFill>
                  <a:srgbClr val="A13A2F"/>
                </a:solidFill>
              </a:rPr>
              <a:t>Better BIC ≠ better theory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87552" y="2514600"/>
            <a:ext cx="2743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16202A"/>
                </a:solidFill>
              </a:rPr>
              <a:t>Why this matters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05840" y="2907792"/>
            <a:ext cx="493776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t">
            <a:normAutofit/>
          </a:bodyPr>
          <a:lstStyle/>
          <a:p>
            <a:pPr marL="0" indent="0" algn="l">
              <a:buNone/>
            </a:pPr>
            <a:r>
              <a:t>A model can predict well without capturing the true psychological process.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6537960" y="1600200"/>
            <a:ext cx="2011680" cy="685800"/>
          </a:xfrm>
          <a:prstGeom prst="rect">
            <a:avLst/>
          </a:prstGeom>
          <a:solidFill>
            <a:srgbClr val="DCEFEA"/>
          </a:solidFill>
          <a:ln w="12700">
            <a:solidFill>
              <a:srgbClr val="DCEFEA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LLM proposes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9006840" y="1600200"/>
            <a:ext cx="2011680" cy="685800"/>
          </a:xfrm>
          <a:prstGeom prst="rect">
            <a:avLst/>
          </a:prstGeom>
          <a:solidFill>
            <a:srgbClr val="E6ECFF"/>
          </a:solidFill>
          <a:ln w="12700">
            <a:solidFill>
              <a:srgbClr val="E6ECFF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16202A"/>
                </a:solidFill>
              </a:rPr>
              <a:t>Data selects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8613648" y="1938528"/>
            <a:ext cx="301752" cy="0"/>
          </a:xfrm>
          <a:prstGeom prst="line">
            <a:avLst/>
          </a:prstGeom>
          <a:noFill/>
          <a:ln w="19050">
            <a:solidFill>
              <a:srgbClr val="607080"/>
            </a:solidFill>
            <a:prstDash val="solid"/>
            <a:headEnd type="none"/>
            <a:tailEnd type="triangle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12" name="Text 10"/>
          <p:cNvSpPr/>
          <p:nvPr/>
        </p:nvSpPr>
        <p:spPr>
          <a:xfrm>
            <a:off x="7589520" y="2944368"/>
            <a:ext cx="2560320" cy="777240"/>
          </a:xfrm>
          <a:prstGeom prst="rect">
            <a:avLst/>
          </a:prstGeom>
          <a:solidFill>
            <a:srgbClr val="F0E4E1"/>
          </a:solidFill>
          <a:ln w="12700">
            <a:solidFill>
              <a:srgbClr val="F0E4E1"/>
            </a:solidFill>
          </a:ln>
        </p:spPr>
        <p:txBody>
          <a:bodyPr wrap="square" lIns="1016" tIns="1016" rIns="1016" bIns="1016" rtlCol="0" anchor="ctr">
            <a:normAutofit/>
          </a:bodyPr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13A2F"/>
                </a:solidFill>
              </a:rPr>
              <a:t>Humans interpret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1005840" y="5230368"/>
            <a:ext cx="10058400" cy="47548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GeCCo is a proposal engine, not an automatic theory machine.</a:t>
            </a:r>
            <a:endParaRPr lang="en-US" sz="21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50" b="1" dirty="0">
                <a:solidFill>
                  <a:srgbClr val="9B8C7C"/>
                </a:solidFill>
              </a:rPr>
              <a:t>limitations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rPr lang="en-US" sz="2900" b="1" dirty="0">
                <a:solidFill>
                  <a:srgbClr val="16202A"/>
                </a:solidFill>
              </a:rPr>
              <a:t>What is still not solved?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Scope and judgment still matter.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Template bias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The scaffold shapes what the LLM can easily propose.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Prompt sensitivity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Small wording changes can alter generated models.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Four lab tasks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Evidence comes from controlled lab tasks, not naturalistic behavior.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300" b="1" dirty="0">
                <a:solidFill>
                  <a:srgbClr val="16202A"/>
                </a:solidFill>
              </a:rPr>
              <a:t>Scaling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Richer tasks may require more complex evaluation.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The method helps scientists search; humans still judge explanation.</a:t>
            </a:r>
            <a:endParaRPr lang="en-US" sz="22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94360" y="685800"/>
            <a:ext cx="53035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>
              <a:buNone/>
            </a:pPr>
            <a:endParaRPr lang="en-US" sz="3100" dirty="0"/>
          </a:p>
        </p:txBody>
      </p:sp>
      <p:sp>
        <p:nvSpPr>
          <p:cNvPr id="5" name="Text 3"/>
          <p:cNvSpPr/>
          <p:nvPr/>
        </p:nvSpPr>
        <p:spPr>
          <a:xfrm>
            <a:off x="685800" y="1600200"/>
            <a:ext cx="10789920" cy="914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822960" y="3520440"/>
            <a:ext cx="10515600" cy="1143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1051560" y="2788920"/>
            <a:ext cx="1042416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rPr lang="en-US" sz="2800" b="1" dirty="0">
                <a:solidFill>
                  <a:srgbClr val="1B7F7A"/>
                </a:solidFill>
              </a:rPr>
              <a:t>Thank you</a:t>
            </a:r>
          </a:p>
          <a:p>
            <a:pPr marL="0" indent="0" algn="ctr">
              <a:buNone/>
            </a:pPr>
            <a:endParaRPr lang="en-US" sz="2800" b="1" dirty="0">
              <a:solidFill>
                <a:srgbClr val="1B7F7A"/>
              </a:solidFill>
            </a:endParaRPr>
          </a:p>
          <a:p>
            <a:pPr marL="0" indent="0" algn="ctr">
              <a:buNone/>
            </a:pPr>
            <a:r>
              <a:rPr lang="zh-CN" altLang="en-US" sz="2800" b="1" dirty="0">
                <a:solidFill>
                  <a:srgbClr val="1B7F7A"/>
                </a:solidFill>
              </a:rPr>
              <a:t>    </a:t>
            </a:r>
            <a:r>
              <a:rPr lang="en-US" sz="2800" b="1" dirty="0">
                <a:solidFill>
                  <a:srgbClr val="1B7F7A"/>
                </a:solidFill>
              </a:rPr>
              <a:t>Questions</a:t>
            </a:r>
            <a:r>
              <a:rPr lang="zh-CN" altLang="en-US" sz="2800" b="1" dirty="0">
                <a:solidFill>
                  <a:srgbClr val="1B7F7A"/>
                </a:solidFill>
              </a:rPr>
              <a:t>？</a:t>
            </a:r>
            <a:endParaRPr lang="en-US" sz="2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backup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Backup: evaluation metrics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Use only if asked for technical detail.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NLL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How well the model predicts observed choices.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BIC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Compares fit while penalizing extra parameters.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PPC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Checks whether simulations look human-like.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Interpretation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Metrics compare models; they do not prove mechanisms.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In the main talk: explain the intuition, not the formula.</a:t>
            </a:r>
            <a:endParaRPr lang="en-US" sz="22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backup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Backup: acronym glossary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For quick clarification during Q&amp;A.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RW / RL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Rescorla-Wagner / reinforcement learning.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MB / MF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Model-based / model-free learning systems.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pWADD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A literature baseline for decision heuristics.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RL-WM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Reinforcement learning + working memory.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Use only the acronyms needed for the main argument.</a:t>
            </a:r>
            <a:endParaRPr lang="en-US" sz="2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 name="Slide 14">
    <p:bg>
      <p:bgPr>
        <a:solidFill>
          <a:srgbClr val="F7F4E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6373368"/>
            <a:ext cx="3474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backup</a:t>
            </a:r>
            <a:endParaRPr lang="en-US" sz="850" dirty="0"/>
          </a:p>
        </p:txBody>
      </p:sp>
      <p:sp>
        <p:nvSpPr>
          <p:cNvPr id="3" name="Text 1"/>
          <p:cNvSpPr/>
          <p:nvPr/>
        </p:nvSpPr>
        <p:spPr>
          <a:xfrm>
            <a:off x="9372600" y="6373368"/>
            <a:ext cx="23317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r">
              <a:buNone/>
            </a:pPr>
            <a:r>
              <a:rPr lang="en-US" sz="850" dirty="0">
                <a:solidFill>
                  <a:srgbClr val="9B8C7C"/>
                </a:solidFill>
              </a:rPr>
              <a:t>Rmus et al. (2025) · GeCCo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502920" y="310896"/>
            <a:ext cx="804672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marL="0" indent="0">
              <a:buNone/>
            </a:pPr>
            <a:r>
              <a:t>Backup: experiment strategy</a:t>
            </a:r>
            <a:endParaRPr lang="en-US" sz="2900" dirty="0"/>
          </a:p>
        </p:txBody>
      </p:sp>
      <p:sp>
        <p:nvSpPr>
          <p:cNvPr id="5" name="Text 3"/>
          <p:cNvSpPr/>
          <p:nvPr/>
        </p:nvSpPr>
        <p:spPr>
          <a:xfrm>
            <a:off x="530352" y="850392"/>
            <a:ext cx="79552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Why not explain all four experiments equally?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77724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Main deck</a:t>
            </a:r>
            <a:endParaRPr lang="en-US" sz="2300" dirty="0"/>
          </a:p>
        </p:txBody>
      </p:sp>
      <p:sp>
        <p:nvSpPr>
          <p:cNvPr id="7" name="Text 5"/>
          <p:cNvSpPr/>
          <p:nvPr/>
        </p:nvSpPr>
        <p:spPr>
          <a:xfrm>
            <a:off x="77724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Use four domains as breadth evidence.</a:t>
            </a:r>
            <a:endParaRPr lang="en-US" sz="1550" dirty="0"/>
          </a:p>
        </p:txBody>
      </p:sp>
      <p:sp>
        <p:nvSpPr>
          <p:cNvPr id="8" name="Text 6"/>
          <p:cNvSpPr/>
          <p:nvPr/>
        </p:nvSpPr>
        <p:spPr>
          <a:xfrm>
            <a:off x="6400800" y="150876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Deep dive</a:t>
            </a:r>
            <a:endParaRPr lang="en-US" sz="2300" dirty="0"/>
          </a:p>
        </p:txBody>
      </p:sp>
      <p:sp>
        <p:nvSpPr>
          <p:cNvPr id="9" name="Text 7"/>
          <p:cNvSpPr/>
          <p:nvPr/>
        </p:nvSpPr>
        <p:spPr>
          <a:xfrm>
            <a:off x="6400800" y="201168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Explain 1–2 representative cases in more detail.</a:t>
            </a:r>
            <a:endParaRPr lang="en-US" sz="1550" dirty="0"/>
          </a:p>
        </p:txBody>
      </p:sp>
      <p:sp>
        <p:nvSpPr>
          <p:cNvPr id="10" name="Text 8"/>
          <p:cNvSpPr/>
          <p:nvPr/>
        </p:nvSpPr>
        <p:spPr>
          <a:xfrm>
            <a:off x="77724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Selection rule</a:t>
            </a:r>
            <a:endParaRPr lang="en-US" sz="2300" dirty="0"/>
          </a:p>
        </p:txBody>
      </p:sp>
      <p:sp>
        <p:nvSpPr>
          <p:cNvPr id="11" name="Text 9"/>
          <p:cNvSpPr/>
          <p:nvPr/>
        </p:nvSpPr>
        <p:spPr>
          <a:xfrm>
            <a:off x="77724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Choose cases that support or challenge the main claim.</a:t>
            </a:r>
            <a:endParaRPr lang="en-US" sz="1550" dirty="0"/>
          </a:p>
        </p:txBody>
      </p:sp>
      <p:sp>
        <p:nvSpPr>
          <p:cNvPr id="12" name="Text 10"/>
          <p:cNvSpPr/>
          <p:nvPr/>
        </p:nvSpPr>
        <p:spPr>
          <a:xfrm>
            <a:off x="6400800" y="3611880"/>
            <a:ext cx="4297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t>Professor’s point</a:t>
            </a:r>
            <a:endParaRPr lang="en-US" sz="2300" dirty="0"/>
          </a:p>
        </p:txBody>
      </p:sp>
      <p:sp>
        <p:nvSpPr>
          <p:cNvPr id="13" name="Text 11"/>
          <p:cNvSpPr/>
          <p:nvPr/>
        </p:nvSpPr>
        <p:spPr>
          <a:xfrm>
            <a:off x="6400800" y="4114800"/>
            <a:ext cx="443484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marL="0" indent="0">
              <a:buNone/>
            </a:pPr>
            <a:r>
              <a:t>Details matter only when they serve the claim.</a:t>
            </a:r>
            <a:endParaRPr lang="en-US" sz="1550" dirty="0"/>
          </a:p>
        </p:txBody>
      </p:sp>
      <p:sp>
        <p:nvSpPr>
          <p:cNvPr id="14" name="Text 12"/>
          <p:cNvSpPr/>
          <p:nvPr/>
        </p:nvSpPr>
        <p:spPr>
          <a:xfrm>
            <a:off x="960120" y="5486400"/>
            <a:ext cx="10332720" cy="457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marL="0" indent="0" algn="ctr">
              <a:buNone/>
            </a:pPr>
            <a:r>
              <a:t>Goal: compact story, not a full technical reconstruction.</a:t>
            </a:r>
            <a:endParaRPr lang="en-US" sz="2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</TotalTime>
  <Words>1368</Words>
  <Application>Microsoft Macintosh PowerPoint</Application>
  <PresentationFormat>宽屏</PresentationFormat>
  <Paragraphs>204</Paragraphs>
  <Slides>15</Slides>
  <Notes>15</Notes>
  <HiddenSlides>0</HiddenSlides>
  <MMClips>0</MMClips>
  <ScaleCrop>false</ScaleCrop>
  <HeadingPairs>
    <vt:vector size="6" baseType="variant">
      <vt:variant>
        <vt:lpstr>已用的字体</vt:lpstr>
      </vt:variant>
      <vt:variant>
        <vt:i4>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15</vt:i4>
      </vt:variant>
    </vt:vector>
  </HeadingPairs>
  <TitlesOfParts>
    <vt:vector size="18" baseType="lpstr">
      <vt:lpstr>Arial</vt:lpstr>
      <vt:lpstr>Courier New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AI in Neuroscience Seminar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GeCCo: LLMs as Cognitive Model Generators</dc:title>
  <dc:subject>Generating Computational Cognitive Models using Large Language Models</dc:subject>
  <dc:creator>Yingzhu Chen &amp; Christian Block</dc:creator>
  <cp:lastModifiedBy>映竹 陈</cp:lastModifiedBy>
  <cp:revision>4</cp:revision>
  <dcterms:created xsi:type="dcterms:W3CDTF">2026-06-09T11:16:01Z</dcterms:created>
  <dcterms:modified xsi:type="dcterms:W3CDTF">2026-06-09T11:25:14Z</dcterms:modified>
</cp:coreProperties>
</file>