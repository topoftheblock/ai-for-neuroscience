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376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208" y="5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46478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main message. Emphasize that the presentation is not a full summary, but an argument-driven reading of GeCCo.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Frame the problem: GeCCo is not just about speed; it is about expanding model search beyond the researcher’s familiar hypotheses.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this slide slowly. The audience may not know cognitive modeling. Keep it intuitive: theory becomes code; code assigns probabilities to behavior.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central method slide. Stress the hybrid design: LLM is the proposal engine; BIC and held-out data are the selection mechanism.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this slide to connect to the professor’s advice: every figure has a message. Here the message is that prompting is an experimental design choice.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later critique: their metrics are strong for comparison and prediction, but a psychological explanation requires more than a 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transition slide. Do not explain every experiment in detail yet. The goal is to show breadth.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 not get stuck in the code. Explain the insight: a compact model can interpolate between well-known heuristics.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Focus on the scientific interpretation: the LLM keeps chosen and counterfactual values distinct, rather than merging everything into one value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experiments 3 and 4 without too much detail. The audience should remember the alternative interpretations.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one of the strongest control slides. Use it to argue that GeCCo is not simply asking an LLM once.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should be balanced. The authors do important controls, but we should not overstate what controls can prove.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core critical slide. It shows that we understand the paper but are not just accepting the claim without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the limitations constructive. The point is not that the paper is weak; the point is that the claims have a scope.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by inviting questions. These discussion questions align with the seminar’s focus on critical reading and AI in neuroscience.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3733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B8C7C"/>
                </a:solidFill>
              </a:rPr>
              <a:t>opening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9372600" y="637336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B8C7C"/>
                </a:solidFill>
              </a:rPr>
              <a:t>Rmus et al. (2025) · GeCCo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40080"/>
            <a:ext cx="580644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16202A"/>
                </a:solidFill>
              </a:rPr>
              <a:t>Generating computational cognitive models using LLMs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07080"/>
                </a:solidFill>
              </a:rPr>
              <a:t>Seminar presentation · Yingzhu Chen &amp; Christian Block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70560" y="348417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7F7A"/>
                </a:solidFill>
              </a:rPr>
              <a:t>Core message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70560" y="3684724"/>
            <a:ext cx="548640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A13A2F"/>
                </a:solidFill>
              </a:rPr>
              <a:t>LLMs can accelerate cognitive model discovery, but better fit is not automatically better cognitive explanation.</a:t>
            </a:r>
            <a:endParaRPr lang="en-US" sz="2400" dirty="0"/>
          </a:p>
        </p:txBody>
      </p:sp>
      <p:pic>
        <p:nvPicPr>
          <p:cNvPr id="8" name="Image 0" descr="/mnt/data/gecco_assets/fig1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551721"/>
            <a:ext cx="4434840" cy="160571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086600" y="3913632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7080"/>
                </a:solidFill>
              </a:rPr>
              <a:t>Rmus et al. (2025) · NeurIPS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3733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B8C7C"/>
                </a:solidFill>
              </a:rPr>
              <a:t>problem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9372600" y="637336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B8C7C"/>
                </a:solidFill>
              </a:rPr>
              <a:t>Rmus et al. (2025) · GeCCo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0467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6202A"/>
                </a:solidFill>
              </a:rPr>
              <a:t>Why cognitive modeling needs help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30352" y="85039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07080"/>
                </a:solidFill>
              </a:rPr>
              <a:t>The paper starts from a bottleneck in traditional model discovery.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1828800" cy="731520"/>
          </a:xfrm>
          <a:prstGeom prst="rect">
            <a:avLst/>
          </a:prstGeom>
          <a:solidFill>
            <a:srgbClr val="DCEFEA"/>
          </a:solidFill>
          <a:ln w="12700">
            <a:solidFill>
              <a:srgbClr val="DCEF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02A"/>
                </a:solidFill>
              </a:rPr>
              <a:t>Theory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154680" y="1828800"/>
            <a:ext cx="1828800" cy="731520"/>
          </a:xfrm>
          <a:prstGeom prst="rect">
            <a:avLst/>
          </a:prstGeom>
          <a:solidFill>
            <a:srgbClr val="E6ECFF"/>
          </a:solidFill>
          <a:ln w="12700">
            <a:solidFill>
              <a:srgbClr val="E6EC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02A"/>
                </a:solidFill>
              </a:rPr>
              <a:t>Code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577840" y="1828800"/>
            <a:ext cx="1828800" cy="731520"/>
          </a:xfrm>
          <a:prstGeom prst="rect">
            <a:avLst/>
          </a:prstGeom>
          <a:solidFill>
            <a:srgbClr val="FFF1DC"/>
          </a:solidFill>
          <a:ln w="12700">
            <a:solidFill>
              <a:srgbClr val="FFF1D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02A"/>
                </a:solidFill>
              </a:rPr>
              <a:t>Fit data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001000" y="1828800"/>
            <a:ext cx="1828800" cy="731520"/>
          </a:xfrm>
          <a:prstGeom prst="rect">
            <a:avLst/>
          </a:prstGeom>
          <a:solidFill>
            <a:srgbClr val="F0E4E1"/>
          </a:solidFill>
          <a:ln w="12700">
            <a:solidFill>
              <a:srgbClr val="F0E4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02A"/>
                </a:solidFill>
              </a:rPr>
              <a:t>Revise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651760" y="2194560"/>
            <a:ext cx="411480" cy="0"/>
          </a:xfrm>
          <a:prstGeom prst="line">
            <a:avLst/>
          </a:prstGeom>
          <a:noFill/>
          <a:ln w="19050">
            <a:solidFill>
              <a:srgbClr val="6070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5074920" y="2194560"/>
            <a:ext cx="411480" cy="0"/>
          </a:xfrm>
          <a:prstGeom prst="line">
            <a:avLst/>
          </a:prstGeom>
          <a:noFill/>
          <a:ln w="19050">
            <a:solidFill>
              <a:srgbClr val="6070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7498080" y="2194560"/>
            <a:ext cx="411480" cy="0"/>
          </a:xfrm>
          <a:prstGeom prst="line">
            <a:avLst/>
          </a:prstGeom>
          <a:noFill/>
          <a:ln w="19050">
            <a:solidFill>
              <a:srgbClr val="6070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777240" y="3154680"/>
            <a:ext cx="438912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6202A"/>
                </a:solidFill>
              </a:rPr>
              <a:t>Traditional modeling is slow and expert-dependent.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04672" y="3886200"/>
            <a:ext cx="429768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607080"/>
                </a:solidFill>
              </a:rPr>
              <a:t>Researchers must read literature, formalize theory, implement code, fit models, and repeat.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46520" y="3154680"/>
            <a:ext cx="438912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A13A2F"/>
                </a:solidFill>
              </a:rPr>
              <a:t>The risk: a narrow model space.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473952" y="3886200"/>
            <a:ext cx="429768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607080"/>
                </a:solidFill>
              </a:rPr>
              <a:t>We may only test theories we already know how to write down.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3733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B8C7C"/>
                </a:solidFill>
              </a:rPr>
              <a:t>concept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9372600" y="637336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B8C7C"/>
                </a:solidFill>
              </a:rPr>
              <a:t>Rmus et al. (2025) · GeCCo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0467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6202A"/>
                </a:solidFill>
              </a:rPr>
              <a:t>What is a computational cognitive model?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30352" y="85039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07080"/>
                </a:solidFill>
              </a:rPr>
              <a:t>A psychological explanation written as equations or executable code.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2743200" cy="1005840"/>
          </a:xfrm>
          <a:prstGeom prst="rect">
            <a:avLst/>
          </a:prstGeom>
          <a:solidFill>
            <a:srgbClr val="DCEFEA"/>
          </a:solidFill>
          <a:ln w="12700">
            <a:solidFill>
              <a:srgbClr val="DCEF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02A"/>
                </a:solidFill>
              </a:rPr>
              <a:t>Psychological idea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202A"/>
                </a:solidFill>
              </a:rPr>
              <a:t>"people learn from rewards"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0" y="1828800"/>
            <a:ext cx="2651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0E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02A"/>
                </a:solidFill>
              </a:rPr>
              <a:t>Executable model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202A"/>
                </a:solidFill>
              </a:rPr>
              <a:t>Python function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321040" y="1828800"/>
            <a:ext cx="2651760" cy="1005840"/>
          </a:xfrm>
          <a:prstGeom prst="rect">
            <a:avLst/>
          </a:prstGeom>
          <a:solidFill>
            <a:srgbClr val="FFF1DC"/>
          </a:solidFill>
          <a:ln w="12700">
            <a:solidFill>
              <a:srgbClr val="FFF1D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02A"/>
                </a:solidFill>
              </a:rPr>
              <a:t>Predictions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202A"/>
                </a:solidFill>
              </a:rPr>
              <a:t>choice probabilities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11880" y="2331720"/>
            <a:ext cx="822960" cy="0"/>
          </a:xfrm>
          <a:prstGeom prst="line">
            <a:avLst/>
          </a:prstGeom>
          <a:noFill/>
          <a:ln w="19050">
            <a:solidFill>
              <a:srgbClr val="6070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7360920" y="2331720"/>
            <a:ext cx="822960" cy="0"/>
          </a:xfrm>
          <a:prstGeom prst="line">
            <a:avLst/>
          </a:prstGeom>
          <a:noFill/>
          <a:ln w="19050">
            <a:solidFill>
              <a:srgbClr val="6070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4160520" y="3291840"/>
            <a:ext cx="3931920" cy="1325880"/>
          </a:xfrm>
          <a:prstGeom prst="rect">
            <a:avLst/>
          </a:prstGeom>
          <a:solidFill>
            <a:srgbClr val="EFEFEF"/>
          </a:solidFill>
          <a:ln>
            <a:solidFill>
              <a:srgbClr val="D0D0D0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62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model(actions, rewards, params):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62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learning_rate, beta = params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62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62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-log_likelihood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43000" y="5257800"/>
            <a:ext cx="99669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B7F7A"/>
                </a:solidFill>
              </a:rPr>
              <a:t>Models are compared because different mechanisms can fit the same behavior.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3733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B8C7C"/>
                </a:solidFill>
              </a:rPr>
              <a:t>method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9372600" y="637336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B8C7C"/>
                </a:solidFill>
              </a:rPr>
              <a:t>Rmus et al. (2025) · GeCCo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0467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6202A"/>
                </a:solidFill>
              </a:rPr>
              <a:t>GeCCo in one loop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30352" y="85039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07080"/>
                </a:solidFill>
              </a:rPr>
              <a:t>LLM proposes; data evaluates; feedback improves the next proposal.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331720" y="2103120"/>
            <a:ext cx="731520" cy="0"/>
          </a:xfrm>
          <a:prstGeom prst="line">
            <a:avLst/>
          </a:prstGeom>
          <a:noFill/>
          <a:ln w="20320">
            <a:solidFill>
              <a:srgbClr val="6070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074920" y="2103120"/>
            <a:ext cx="731520" cy="0"/>
          </a:xfrm>
          <a:prstGeom prst="line">
            <a:avLst/>
          </a:prstGeom>
          <a:noFill/>
          <a:ln w="20320">
            <a:solidFill>
              <a:srgbClr val="6070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7818120" y="2103120"/>
            <a:ext cx="731520" cy="0"/>
          </a:xfrm>
          <a:prstGeom prst="line">
            <a:avLst/>
          </a:prstGeom>
          <a:noFill/>
          <a:ln w="20320">
            <a:solidFill>
              <a:srgbClr val="6070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594360" y="1554480"/>
            <a:ext cx="1737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0E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02A"/>
                </a:solidFill>
              </a:rPr>
              <a:t>Prompt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6202A"/>
                </a:solidFill>
              </a:rPr>
              <a:t>task + data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108960" y="1554480"/>
            <a:ext cx="1920240" cy="1097280"/>
          </a:xfrm>
          <a:prstGeom prst="rect">
            <a:avLst/>
          </a:prstGeom>
          <a:solidFill>
            <a:srgbClr val="DCEFEA"/>
          </a:solidFill>
          <a:ln w="12700">
            <a:solidFill>
              <a:srgbClr val="DCEF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02A"/>
                </a:solidFill>
              </a:rPr>
              <a:t>LLM writes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6202A"/>
                </a:solidFill>
              </a:rPr>
              <a:t>3 model codes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852160" y="1554480"/>
            <a:ext cx="1920240" cy="1097280"/>
          </a:xfrm>
          <a:prstGeom prst="rect">
            <a:avLst/>
          </a:prstGeom>
          <a:solidFill>
            <a:srgbClr val="E6ECFF"/>
          </a:solidFill>
          <a:ln w="12700">
            <a:solidFill>
              <a:srgbClr val="E6EC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02A"/>
                </a:solidFill>
              </a:rPr>
              <a:t>Fit on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6202A"/>
                </a:solidFill>
              </a:rPr>
              <a:t>held-out data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595360" y="1554480"/>
            <a:ext cx="1645920" cy="1097280"/>
          </a:xfrm>
          <a:prstGeom prst="rect">
            <a:avLst/>
          </a:prstGeom>
          <a:solidFill>
            <a:srgbClr val="FFF1DC"/>
          </a:solidFill>
          <a:ln w="12700">
            <a:solidFill>
              <a:srgbClr val="FFF1D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02A"/>
                </a:solidFill>
              </a:rPr>
              <a:t>Select by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6202A"/>
                </a:solidFill>
              </a:rPr>
              <a:t>BIC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69112" y="3520439"/>
            <a:ext cx="2103120" cy="822960"/>
          </a:xfrm>
          <a:prstGeom prst="rect">
            <a:avLst/>
          </a:prstGeom>
          <a:solidFill>
            <a:srgbClr val="F0E4E1"/>
          </a:solidFill>
          <a:ln w="12700">
            <a:solidFill>
              <a:srgbClr val="F0E4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13A2F"/>
                </a:solidFill>
              </a:rPr>
              <a:t>Feedback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A13A2F"/>
                </a:solidFill>
              </a:rPr>
              <a:t>best so far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94360" y="5486400"/>
            <a:ext cx="107899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A13A2F"/>
                </a:solidFill>
              </a:rPr>
              <a:t>This is guided code generation, not one-shot prompting.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3733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B8C7C"/>
                </a:solidFill>
              </a:rPr>
              <a:t>method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9372600" y="637336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B8C7C"/>
                </a:solidFill>
              </a:rPr>
              <a:t>Rmus et al. (2025) · GeCCo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0467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6202A"/>
                </a:solidFill>
              </a:rPr>
              <a:t>The prompt is part of the method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30352" y="85039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07080"/>
                </a:solidFill>
              </a:rPr>
              <a:t>GeCCo constrains the LLM so outputs are executable and comparable.</a:t>
            </a:r>
            <a:endParaRPr lang="en-US" sz="1250" dirty="0"/>
          </a:p>
        </p:txBody>
      </p:sp>
      <p:pic>
        <p:nvPicPr>
          <p:cNvPr id="6" name="Image 0" descr="/mnt/data/gecco_assets/fig6_prom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082" y="1234440"/>
            <a:ext cx="5277556" cy="4773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720840" y="13258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7F7A"/>
                </a:solidFill>
              </a:rPr>
              <a:t>PROMPT INGREDIENTS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720840" y="1737360"/>
            <a:ext cx="329184" cy="329184"/>
          </a:xfrm>
          <a:prstGeom prst="rect">
            <a:avLst/>
          </a:prstGeom>
          <a:solidFill>
            <a:srgbClr val="1B7F7A"/>
          </a:solidFill>
          <a:ln>
            <a:solidFill>
              <a:srgbClr val="1B7F7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178040" y="17190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02A"/>
                </a:solidFill>
              </a:rPr>
              <a:t>Task description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178040" y="200253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07080"/>
                </a:solidFill>
              </a:rPr>
              <a:t>What participants do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720840" y="2487168"/>
            <a:ext cx="329184" cy="329184"/>
          </a:xfrm>
          <a:prstGeom prst="rect">
            <a:avLst/>
          </a:prstGeom>
          <a:solidFill>
            <a:srgbClr val="1B7F7A"/>
          </a:solidFill>
          <a:ln>
            <a:solidFill>
              <a:srgbClr val="1B7F7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178040" y="24688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02A"/>
                </a:solidFill>
              </a:rPr>
              <a:t>Behavioral data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178040" y="275234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07080"/>
                </a:solidFill>
              </a:rPr>
              <a:t>Trial-by-trial examples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720840" y="3236976"/>
            <a:ext cx="329184" cy="329184"/>
          </a:xfrm>
          <a:prstGeom prst="rect">
            <a:avLst/>
          </a:prstGeom>
          <a:solidFill>
            <a:srgbClr val="1B7F7A"/>
          </a:solidFill>
          <a:ln>
            <a:solidFill>
              <a:srgbClr val="1B7F7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178040" y="321868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02A"/>
                </a:solidFill>
              </a:rPr>
              <a:t>Guardrails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178040" y="350215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07080"/>
                </a:solidFill>
              </a:rPr>
              <a:t>Function names, inputs, outputs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720840" y="3986784"/>
            <a:ext cx="329184" cy="329184"/>
          </a:xfrm>
          <a:prstGeom prst="rect">
            <a:avLst/>
          </a:prstGeom>
          <a:solidFill>
            <a:srgbClr val="1B7F7A"/>
          </a:solidFill>
          <a:ln>
            <a:solidFill>
              <a:srgbClr val="1B7F7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178040" y="396849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02A"/>
                </a:solidFill>
              </a:rPr>
              <a:t>Code template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7178040" y="425196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07080"/>
                </a:solidFill>
              </a:rPr>
              <a:t>Syntactic scaffold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6720840" y="4736592"/>
            <a:ext cx="329184" cy="329184"/>
          </a:xfrm>
          <a:prstGeom prst="rect">
            <a:avLst/>
          </a:prstGeom>
          <a:solidFill>
            <a:srgbClr val="1B7F7A"/>
          </a:solidFill>
          <a:ln>
            <a:solidFill>
              <a:srgbClr val="1B7F7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178040" y="471830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02A"/>
                </a:solidFill>
              </a:rPr>
              <a:t>Feedback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7178040" y="500176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07080"/>
                </a:solidFill>
              </a:rPr>
              <a:t>Best model so far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6720840" y="5513832"/>
            <a:ext cx="45720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A13A2F"/>
                </a:solidFill>
              </a:rPr>
              <a:t>Design choice: more control means less free-form creativity, but better reproducibility.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3733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B8C7C"/>
                </a:solidFill>
              </a:rPr>
              <a:t>evaluation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9372600" y="637336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B8C7C"/>
                </a:solidFill>
              </a:rPr>
              <a:t>Rmus et al. (2025) · GeCCo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0467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6202A"/>
                </a:solidFill>
              </a:rPr>
              <a:t>How does the paper decide a model is good?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30352" y="85039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07080"/>
                </a:solidFill>
              </a:rPr>
              <a:t>The evaluation is predictive, but the interpretation is still theoretical.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77240" y="1508760"/>
            <a:ext cx="32004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0E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02A"/>
                </a:solidFill>
              </a:rPr>
              <a:t>NLL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6202A"/>
                </a:solidFill>
              </a:rPr>
              <a:t>Did the model assign high probability to real choices?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434840" y="1508760"/>
            <a:ext cx="3200400" cy="1143000"/>
          </a:xfrm>
          <a:prstGeom prst="rect">
            <a:avLst/>
          </a:prstGeom>
          <a:solidFill>
            <a:srgbClr val="DCEFEA"/>
          </a:solidFill>
          <a:ln w="12700">
            <a:solidFill>
              <a:srgbClr val="DCEF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02A"/>
                </a:solidFill>
              </a:rPr>
              <a:t>BIC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6202A"/>
                </a:solidFill>
              </a:rPr>
              <a:t>Good fit, but penalize extra parameters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92440" y="1508760"/>
            <a:ext cx="3200400" cy="1143000"/>
          </a:xfrm>
          <a:prstGeom prst="rect">
            <a:avLst/>
          </a:prstGeom>
          <a:solidFill>
            <a:srgbClr val="FFF1DC"/>
          </a:solidFill>
          <a:ln w="12700">
            <a:solidFill>
              <a:srgbClr val="FFF1D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02A"/>
                </a:solidFill>
              </a:rPr>
              <a:t>PPC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6202A"/>
                </a:solidFill>
              </a:rPr>
              <a:t>Can the model simulate human-like behavior?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43000" y="3657600"/>
            <a:ext cx="987552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A13A2F"/>
                </a:solidFill>
              </a:rPr>
              <a:t>Lower BIC means better model comparison, not automatic psychological truth.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331720" y="47548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607080"/>
                </a:solidFill>
              </a:rPr>
              <a:t>This distinction is the critical lens for the presentation.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3733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B8C7C"/>
                </a:solidFill>
              </a:rPr>
              <a:t>evidence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9372600" y="637336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B8C7C"/>
                </a:solidFill>
              </a:rPr>
              <a:t>Rmus et al. (2025) · GeCCo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0467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6202A"/>
                </a:solidFill>
              </a:rPr>
              <a:t>Evidence across four cognitive domains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30352" y="85039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07080"/>
                </a:solidFill>
              </a:rPr>
              <a:t>The paper tests whether GeCCo generalizes beyond one task.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6202A"/>
                </a:solidFill>
              </a:rPr>
              <a:t>Decision making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8562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07080"/>
                </a:solidFill>
              </a:rPr>
              <a:t>baseline: pWADD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71800" y="18562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7F7A"/>
                </a:solidFill>
              </a:rPr>
              <a:t>Llama/R1 lower BIC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286000"/>
            <a:ext cx="4389120" cy="0"/>
          </a:xfrm>
          <a:prstGeom prst="line">
            <a:avLst/>
          </a:prstGeom>
          <a:noFill/>
          <a:ln w="12700">
            <a:solidFill>
              <a:srgbClr val="D8D1C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731520" y="34290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6202A"/>
                </a:solidFill>
              </a:rPr>
              <a:t>Learning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31520" y="38679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07080"/>
                </a:solidFill>
              </a:rPr>
              <a:t>baseline: RW4α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71800" y="38679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7F7A"/>
                </a:solidFill>
              </a:rPr>
              <a:t>Llama favored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297680"/>
            <a:ext cx="4389120" cy="0"/>
          </a:xfrm>
          <a:prstGeom prst="line">
            <a:avLst/>
          </a:prstGeom>
          <a:noFill/>
          <a:ln w="12700">
            <a:solidFill>
              <a:srgbClr val="D8D1C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309360" y="14173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6202A"/>
                </a:solidFill>
              </a:rPr>
              <a:t>Planning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309360" y="18562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07080"/>
                </a:solidFill>
              </a:rPr>
              <a:t>baseline: Hybrid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549640" y="18562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7F7A"/>
                </a:solidFill>
              </a:rPr>
              <a:t>R1 favored by EXP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09360" y="2286000"/>
            <a:ext cx="4389120" cy="0"/>
          </a:xfrm>
          <a:prstGeom prst="line">
            <a:avLst/>
          </a:prstGeom>
          <a:noFill/>
          <a:ln w="12700">
            <a:solidFill>
              <a:srgbClr val="D8D1C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309360" y="34290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6202A"/>
                </a:solidFill>
              </a:rPr>
              <a:t>Working memory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6309360" y="38679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07080"/>
                </a:solidFill>
              </a:rPr>
              <a:t>baseline: RL-WM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549640" y="38679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7F7A"/>
                </a:solidFill>
              </a:rPr>
              <a:t>Llama favored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09360" y="4297680"/>
            <a:ext cx="4389120" cy="0"/>
          </a:xfrm>
          <a:prstGeom prst="line">
            <a:avLst/>
          </a:prstGeom>
          <a:noFill/>
          <a:ln w="12700">
            <a:solidFill>
              <a:srgbClr val="D8D1C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1005840" y="5623560"/>
            <a:ext cx="102412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A13A2F"/>
                </a:solidFill>
              </a:rPr>
              <a:t>Across all four: LLM-generated models matched or outperformed literature baselines.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3733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B8C7C"/>
                </a:solidFill>
              </a:rPr>
              <a:t>experiment 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9372600" y="637336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B8C7C"/>
                </a:solidFill>
              </a:rPr>
              <a:t>Rmus et al. (2025) · GeCCo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0467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6202A"/>
                </a:solidFill>
              </a:rPr>
              <a:t>Experiment 1: decision making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30352" y="85039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07080"/>
                </a:solidFill>
              </a:rPr>
              <a:t>Can one simple mechanism explain different choice heuristics?</a:t>
            </a:r>
            <a:endParaRPr lang="en-US" sz="1250" dirty="0"/>
          </a:p>
        </p:txBody>
      </p:sp>
      <p:pic>
        <p:nvPicPr>
          <p:cNvPr id="6" name="Image 0" descr="/mnt/data/gecco_assets/fig2_deci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874520"/>
            <a:ext cx="6492240" cy="19775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43800" y="14173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7F7A"/>
                </a:solidFill>
              </a:rPr>
              <a:t>MAIN RESULT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543800" y="1755648"/>
            <a:ext cx="388620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6202A"/>
                </a:solidFill>
              </a:rPr>
              <a:t>One discount factor spans several classic heuristics.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543800" y="2907792"/>
            <a:ext cx="384048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607080"/>
                </a:solidFill>
              </a:rPr>
              <a:t>The best LLM model is more parsimonious than pWADD: it can move between Take-the-Best, Weighted Additive, and Equal Weighting.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" y="4983480"/>
            <a:ext cx="10515600" cy="502920"/>
          </a:xfrm>
          <a:prstGeom prst="rect">
            <a:avLst/>
          </a:prstGeom>
          <a:solidFill>
            <a:srgbClr val="F0E4E1"/>
          </a:solidFill>
          <a:ln>
            <a:solidFill>
              <a:srgbClr val="F0E4E1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13A2F"/>
                </a:solidFill>
              </a:rPr>
              <a:t>Critical point: simplicity is a real advantage here because BIC rewards fewer parameters.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3733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B8C7C"/>
                </a:solidFill>
              </a:rPr>
              <a:t>experiment 2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9372600" y="637336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B8C7C"/>
                </a:solidFill>
              </a:rPr>
              <a:t>Rmus et al. (2025) · GeCCo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0467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6202A"/>
                </a:solidFill>
              </a:rPr>
              <a:t>Experiment 2: learning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30352" y="85039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07080"/>
                </a:solidFill>
              </a:rPr>
              <a:t>Full feedback lets people learn from both outcomes and missed outcomes.</a:t>
            </a:r>
            <a:endParaRPr lang="en-US" sz="1250" dirty="0"/>
          </a:p>
        </p:txBody>
      </p:sp>
      <p:pic>
        <p:nvPicPr>
          <p:cNvPr id="6" name="Image 0" descr="/mnt/data/gecco_assets/fig3_le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14141"/>
            <a:ext cx="6537960" cy="16157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43800" y="13716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7F7A"/>
                </a:solidFill>
              </a:rPr>
              <a:t>LLM INSIGHT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589520" y="1755648"/>
            <a:ext cx="3383280" cy="658368"/>
          </a:xfrm>
          <a:prstGeom prst="rect">
            <a:avLst/>
          </a:prstGeom>
          <a:solidFill>
            <a:srgbClr val="DCEFEA"/>
          </a:solidFill>
          <a:ln w="12700">
            <a:solidFill>
              <a:srgbClr val="DCEF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02A"/>
                </a:solidFill>
              </a:rPr>
              <a:t>chosen outcome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6202A"/>
                </a:solidFill>
              </a:rPr>
              <a:t>experienced value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589520" y="2697480"/>
            <a:ext cx="3383280" cy="658368"/>
          </a:xfrm>
          <a:prstGeom prst="rect">
            <a:avLst/>
          </a:prstGeom>
          <a:solidFill>
            <a:srgbClr val="E6ECFF"/>
          </a:solidFill>
          <a:ln w="12700">
            <a:solidFill>
              <a:srgbClr val="E6EC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02A"/>
                </a:solidFill>
              </a:rPr>
              <a:t>forgone outcome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6202A"/>
                </a:solidFill>
              </a:rPr>
              <a:t>fictive trace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589520" y="3639312"/>
            <a:ext cx="3383280" cy="658368"/>
          </a:xfrm>
          <a:prstGeom prst="rect">
            <a:avLst/>
          </a:prstGeom>
          <a:solidFill>
            <a:srgbClr val="FFF1DC"/>
          </a:solidFill>
          <a:ln w="12700">
            <a:solidFill>
              <a:srgbClr val="FFF1D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02A"/>
                </a:solidFill>
              </a:rPr>
              <a:t>forgetting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6202A"/>
                </a:solidFill>
              </a:rPr>
              <a:t>old values decay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97280" y="5074920"/>
            <a:ext cx="99669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13A2F"/>
                </a:solidFill>
              </a:rPr>
              <a:t>The model does not only fit better; it suggests a theory about counterfactual learning.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3733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B8C7C"/>
                </a:solidFill>
              </a:rPr>
              <a:t>experiments 3-4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9372600" y="637336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B8C7C"/>
                </a:solidFill>
              </a:rPr>
              <a:t>Rmus et al. (2025) · GeCCo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91897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6202A"/>
                </a:solidFill>
              </a:rPr>
              <a:t>Two more cases: planning and working memory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30352" y="85039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07080"/>
                </a:solidFill>
              </a:rPr>
              <a:t>The interesting results are not only better scores, but alternative explanations.</a:t>
            </a:r>
            <a:endParaRPr lang="en-US" sz="1250" dirty="0"/>
          </a:p>
        </p:txBody>
      </p:sp>
      <p:pic>
        <p:nvPicPr>
          <p:cNvPr id="6" name="Image 0" descr="/mnt/data/gecco_assets/fig4_plan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65" y="1234440"/>
            <a:ext cx="5260750" cy="1874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24612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6202A"/>
                </a:solidFill>
              </a:rPr>
              <a:t>Planning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777240" y="3611880"/>
            <a:ext cx="493776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607080"/>
                </a:solidFill>
              </a:rPr>
              <a:t>Transition learning can produce model-based-looking behavior without explicitly splitting MB and MF systems.</a:t>
            </a:r>
            <a:endParaRPr lang="en-US" sz="1550" dirty="0"/>
          </a:p>
        </p:txBody>
      </p:sp>
      <p:pic>
        <p:nvPicPr>
          <p:cNvPr id="9" name="Image 1" descr="/mnt/data/gecco_assets/fig5_mem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428224"/>
            <a:ext cx="5166360" cy="139551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83680" y="3246120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6202A"/>
                </a:solidFill>
              </a:rPr>
              <a:t>Working memory</a:t>
            </a:r>
            <a:endParaRPr lang="en-US" sz="2100" dirty="0"/>
          </a:p>
        </p:txBody>
      </p:sp>
      <p:sp>
        <p:nvSpPr>
          <p:cNvPr id="11" name="Text 7"/>
          <p:cNvSpPr/>
          <p:nvPr/>
        </p:nvSpPr>
        <p:spPr>
          <a:xfrm>
            <a:off x="6583680" y="3611880"/>
            <a:ext cx="47548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607080"/>
                </a:solidFill>
              </a:rPr>
              <a:t>Cognitive load may slow the RL learning rate, not only reduce working-memory weight.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914400" y="5212080"/>
            <a:ext cx="103327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13A2F"/>
                </a:solidFill>
              </a:rPr>
              <a:t>Both cases show why GeCCo may generate hypotheses, not just predictions.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3733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B8C7C"/>
                </a:solidFill>
              </a:rPr>
              <a:t>control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9372600" y="637336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B8C7C"/>
                </a:solidFill>
              </a:rPr>
              <a:t>Rmus et al. (2025) · GeCCo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0467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6202A"/>
                </a:solidFill>
              </a:rPr>
              <a:t>The feedback loop is the core mechanism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30352" y="85039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07080"/>
                </a:solidFill>
              </a:rPr>
              <a:t>The control experiments show that iteration matters.</a:t>
            </a:r>
            <a:endParaRPr lang="en-US" sz="1250" dirty="0"/>
          </a:p>
        </p:txBody>
      </p:sp>
      <p:pic>
        <p:nvPicPr>
          <p:cNvPr id="6" name="Image 0" descr="/mnt/data/gecco_assets/fig9_ab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76782"/>
            <a:ext cx="5212080" cy="2349955"/>
          </a:xfrm>
          <a:prstGeom prst="rect">
            <a:avLst/>
          </a:prstGeom>
        </p:spPr>
      </p:pic>
      <p:pic>
        <p:nvPicPr>
          <p:cNvPr id="7" name="Image 1" descr="/mnt/data/gecco_assets/fig11_iter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450173"/>
            <a:ext cx="5212080" cy="24031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438912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13A2F"/>
                </a:solidFill>
              </a:rPr>
              <a:t>Remove feedback -&gt; worse BIC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6583680" y="438912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7F7A"/>
                </a:solidFill>
              </a:rPr>
              <a:t>More iterations -&gt; lower BIC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960120" y="5321808"/>
            <a:ext cx="102412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202A"/>
                </a:solidFill>
              </a:rPr>
              <a:t>Interpretation: GeCCo works because it creates a search-and-selection loop.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3733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B8C7C"/>
                </a:solidFill>
              </a:rPr>
              <a:t>control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9372600" y="637336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B8C7C"/>
                </a:solidFill>
              </a:rPr>
              <a:t>Rmus et al. (2025) · GeCCo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0467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6202A"/>
                </a:solidFill>
              </a:rPr>
              <a:t>Robustness checks: not just memorization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30352" y="85039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07080"/>
                </a:solidFill>
              </a:rPr>
              <a:t>The authors test whether performance could come from leakage or luck.</a:t>
            </a:r>
            <a:endParaRPr lang="en-US" sz="1250" dirty="0"/>
          </a:p>
        </p:txBody>
      </p:sp>
      <p:pic>
        <p:nvPicPr>
          <p:cNvPr id="6" name="Image 0" descr="/mnt/data/gecco_assets/fig10_contamin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43222"/>
            <a:ext cx="5212080" cy="11083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7889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6202A"/>
                </a:solidFill>
              </a:rPr>
              <a:t>Data contamination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822960" y="3182112"/>
            <a:ext cx="475488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607080"/>
                </a:solidFill>
              </a:rPr>
              <a:t>LogProber scores stay below the contamination threshold. This weakens the memorization explanation.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6537960" y="1325880"/>
            <a:ext cx="4023360" cy="914400"/>
          </a:xfrm>
          <a:prstGeom prst="rect">
            <a:avLst/>
          </a:prstGeom>
          <a:solidFill>
            <a:srgbClr val="DCEFEA"/>
          </a:solidFill>
          <a:ln w="12700">
            <a:solidFill>
              <a:srgbClr val="DCEF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6202A"/>
                </a:solidFill>
              </a:rPr>
              <a:t>Synthetic data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6202A"/>
                </a:solidFill>
              </a:rPr>
              <a:t>known ground truth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8549640" y="2286000"/>
            <a:ext cx="0" cy="640080"/>
          </a:xfrm>
          <a:prstGeom prst="line">
            <a:avLst/>
          </a:prstGeom>
          <a:noFill/>
          <a:ln w="19050">
            <a:solidFill>
              <a:srgbClr val="6070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6537960" y="2971800"/>
            <a:ext cx="4023360" cy="914400"/>
          </a:xfrm>
          <a:prstGeom prst="rect">
            <a:avLst/>
          </a:prstGeom>
          <a:solidFill>
            <a:srgbClr val="FFF1DC"/>
          </a:solidFill>
          <a:ln w="12700">
            <a:solidFill>
              <a:srgbClr val="FFF1D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6202A"/>
                </a:solidFill>
              </a:rPr>
              <a:t>GeCCo recovers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6202A"/>
                </a:solidFill>
              </a:rPr>
              <a:t>key mechanisms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914400" y="5257800"/>
            <a:ext cx="103327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13A2F"/>
                </a:solidFill>
              </a:rPr>
              <a:t>But: synthetic success is a sanity check, not proof that all human behavior is captured.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3733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B8C7C"/>
                </a:solidFill>
              </a:rPr>
              <a:t>critical evaluation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9372600" y="637336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B8C7C"/>
                </a:solidFill>
              </a:rPr>
              <a:t>Rmus et al. (2025) · GeCCo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19" y="310896"/>
            <a:ext cx="9473593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6202A"/>
                </a:solidFill>
              </a:rPr>
              <a:t>Critical question: model fit or cognitive explanation?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30352" y="85039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07080"/>
                </a:solidFill>
              </a:rPr>
              <a:t>This is the main evaluation lens for our presentation.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14400" y="1417320"/>
            <a:ext cx="530352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A13A2F"/>
                </a:solidFill>
              </a:rPr>
              <a:t>Better BIC ≠ better theory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87552" y="25146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02A"/>
                </a:solidFill>
              </a:rPr>
              <a:t>Why this matters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907792"/>
            <a:ext cx="493776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607080"/>
                </a:solidFill>
              </a:rPr>
              <a:t>A model can predict behavior well without capturing the true psychological process. It may be a useful approximation rather than a causal explanation.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37960" y="1600200"/>
            <a:ext cx="2011680" cy="685800"/>
          </a:xfrm>
          <a:prstGeom prst="rect">
            <a:avLst/>
          </a:prstGeom>
          <a:solidFill>
            <a:srgbClr val="DCEFEA"/>
          </a:solidFill>
          <a:ln w="12700">
            <a:solidFill>
              <a:srgbClr val="DCEF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02A"/>
                </a:solidFill>
              </a:rPr>
              <a:t>LLM proposes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006840" y="1600200"/>
            <a:ext cx="2011680" cy="685800"/>
          </a:xfrm>
          <a:prstGeom prst="rect">
            <a:avLst/>
          </a:prstGeom>
          <a:solidFill>
            <a:srgbClr val="E6ECFF"/>
          </a:solidFill>
          <a:ln w="12700">
            <a:solidFill>
              <a:srgbClr val="E6EC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02A"/>
                </a:solidFill>
              </a:rPr>
              <a:t>Data selects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613648" y="1938528"/>
            <a:ext cx="301752" cy="0"/>
          </a:xfrm>
          <a:prstGeom prst="line">
            <a:avLst/>
          </a:prstGeom>
          <a:noFill/>
          <a:ln w="19050">
            <a:solidFill>
              <a:srgbClr val="6070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7589520" y="2944368"/>
            <a:ext cx="2560320" cy="777240"/>
          </a:xfrm>
          <a:prstGeom prst="rect">
            <a:avLst/>
          </a:prstGeom>
          <a:solidFill>
            <a:srgbClr val="F0E4E1"/>
          </a:solidFill>
          <a:ln w="12700">
            <a:solidFill>
              <a:srgbClr val="F0E4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13A2F"/>
                </a:solidFill>
              </a:rPr>
              <a:t>Humans interpret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5230368"/>
            <a:ext cx="100584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B7F7A"/>
                </a:solidFill>
              </a:rPr>
              <a:t>GeCCo should be understood as a proposal engine, not an automatic theory machine.</a:t>
            </a:r>
            <a:endParaRPr lang="en-US" sz="2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3733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B8C7C"/>
                </a:solidFill>
              </a:rPr>
              <a:t>limitations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9372600" y="637336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B8C7C"/>
                </a:solidFill>
              </a:rPr>
              <a:t>Rmus et al. (2025) · GeCCo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0467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6202A"/>
                </a:solidFill>
              </a:rPr>
              <a:t>What is still not solved?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30352" y="85039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07080"/>
                </a:solidFill>
              </a:rPr>
              <a:t>GeCCo is promising, but not universal.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77240" y="15087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6202A"/>
                </a:solidFill>
              </a:rPr>
              <a:t>Template bias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77240" y="2011680"/>
            <a:ext cx="44348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607080"/>
                </a:solidFill>
              </a:rPr>
              <a:t>The scaffold may shape what models the LLM can easily propose.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400800" y="15087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6202A"/>
                </a:solidFill>
              </a:rPr>
              <a:t>Prompt sensitivity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400800" y="2011680"/>
            <a:ext cx="44348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607080"/>
                </a:solidFill>
              </a:rPr>
              <a:t>Different wording can change model generation.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77240" y="36118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6202A"/>
                </a:solidFill>
              </a:rPr>
              <a:t>Four lab tasks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777240" y="4114800"/>
            <a:ext cx="44348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607080"/>
                </a:solidFill>
              </a:rPr>
              <a:t>The domains are standard and controlled, not naturalistic behavior.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400800" y="36118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6202A"/>
                </a:solidFill>
              </a:rPr>
              <a:t>Scaling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6400800" y="4114800"/>
            <a:ext cx="44348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607080"/>
                </a:solidFill>
              </a:rPr>
              <a:t>Language, vision, or richer tasks may require many more parameters.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960120" y="5486400"/>
            <a:ext cx="103327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A13A2F"/>
                </a:solidFill>
              </a:rPr>
              <a:t>The method helps scientists search; it does not remove the need for scientific judgment.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3733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9372600" y="637336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B8C7C"/>
                </a:solidFill>
              </a:rPr>
              <a:t>Rmus et al. (2025) · GeCCo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685800"/>
            <a:ext cx="5303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1600200"/>
            <a:ext cx="1078992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1051560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2788920"/>
            <a:ext cx="104241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7F7A"/>
                </a:solidFill>
              </a:rPr>
              <a:t>Thank you</a:t>
            </a:r>
          </a:p>
          <a:p>
            <a:pPr marL="0" indent="0" algn="ctr">
              <a:buNone/>
            </a:pPr>
            <a:endParaRPr lang="en-US" sz="2800" b="1" dirty="0">
              <a:solidFill>
                <a:srgbClr val="1B7F7A"/>
              </a:solidFill>
            </a:endParaRPr>
          </a:p>
          <a:p>
            <a:pPr marL="0" indent="0" algn="ctr">
              <a:buNone/>
            </a:pPr>
            <a:r>
              <a:rPr lang="zh-CN" altLang="en-US" sz="2800" b="1" dirty="0">
                <a:solidFill>
                  <a:srgbClr val="1B7F7A"/>
                </a:solidFill>
              </a:rPr>
              <a:t>    </a:t>
            </a:r>
            <a:r>
              <a:rPr lang="en-US" sz="2800" b="1" dirty="0">
                <a:solidFill>
                  <a:srgbClr val="1B7F7A"/>
                </a:solidFill>
              </a:rPr>
              <a:t>Questions</a:t>
            </a:r>
            <a:r>
              <a:rPr lang="zh-CN" altLang="en-US" sz="2800" b="1" dirty="0">
                <a:solidFill>
                  <a:srgbClr val="1B7F7A"/>
                </a:solidFill>
              </a:rPr>
              <a:t>？</a:t>
            </a:r>
            <a:endParaRPr lang="en-US" sz="2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1368</Words>
  <Application>Microsoft Macintosh PowerPoint</Application>
  <PresentationFormat>宽屏</PresentationFormat>
  <Paragraphs>204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8" baseType="lpstr">
      <vt:lpstr>Arial</vt:lpstr>
      <vt:lpstr>Courier New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AI in Neuroscience Seminar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GeCCo: LLMs as Cognitive Model Generators</dc:title>
  <dc:subject>Generating Computational Cognitive Models using Large Language Models</dc:subject>
  <dc:creator>Yingzhu Chen &amp; Christian Block</dc:creator>
  <cp:lastModifiedBy>映竹 陈</cp:lastModifiedBy>
  <cp:revision>4</cp:revision>
  <dcterms:created xsi:type="dcterms:W3CDTF">2026-06-09T11:16:01Z</dcterms:created>
  <dcterms:modified xsi:type="dcterms:W3CDTF">2026-06-09T11:25:14Z</dcterms:modified>
</cp:coreProperties>
</file>